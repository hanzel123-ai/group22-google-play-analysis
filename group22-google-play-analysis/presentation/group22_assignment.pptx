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3.svg" ContentType="image/svg+xml"/>
  <Override PartName="/ppt/media/image15.svg" ContentType="image/svg+xml"/>
  <Override PartName="/ppt/media/image25.svg" ContentType="image/svg+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 id="2147483678" r:id="rId12"/>
    <p:sldMasterId id="2147483680" r:id="rId13"/>
  </p:sldMasterIdLst>
  <p:notesMasterIdLst>
    <p:notesMasterId r:id="rId15"/>
  </p:notesMasterIdLst>
  <p:sldIdLst>
    <p:sldId id="264" r:id="rId14"/>
    <p:sldId id="256" r:id="rId16"/>
    <p:sldId id="262" r:id="rId17"/>
    <p:sldId id="265" r:id="rId18"/>
    <p:sldId id="266" r:id="rId19"/>
    <p:sldId id="267" r:id="rId20"/>
    <p:sldId id="268" r:id="rId21"/>
    <p:sldId id="269" r:id="rId22"/>
    <p:sldId id="270" r:id="rId23"/>
    <p:sldId id="271" r:id="rId24"/>
    <p:sldId id="272" r:id="rId25"/>
    <p:sldId id="274" r:id="rId26"/>
    <p:sldId id="275" r:id="rId27"/>
    <p:sldId id="276" r:id="rId28"/>
    <p:sldId id="277" r:id="rId29"/>
    <p:sldId id="278" r:id="rId30"/>
    <p:sldId id="279" r:id="rId31"/>
    <p:sldId id="280" r:id="rId32"/>
    <p:sldId id="281" r:id="rId33"/>
  </p:sldIdLst>
  <p:sldSz cx="12192000" cy="6858000"/>
  <p:notesSz cx="6858000" cy="9144000"/>
  <p:custDataLst>
    <p:tags r:id="rId38"/>
  </p:custDataLst>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592" userDrawn="1">
          <p15:clr>
            <a:srgbClr val="747775"/>
          </p15:clr>
        </p15:guide>
        <p15:guide id="2" pos="285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oi Boon Goh" initials="WB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77B4"/>
    <a:srgbClr val="800000"/>
    <a:srgbClr val="BDD7EE"/>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92"/>
        <p:guide pos="285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gs" Target="tags/tag1.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rPr>
              <a:t>Hello everyone, today we'll be exploring an interesting question: How much of the visible information from the Google Play Store actually explains app ratings? Our project isn't just about predicting ratings; we aim to use a visual survey approach to deeply understand which information is truly effective, where our model fails, and what a high rating really means. Our analysis is based on raw data from the Google Play Store, containing over 10,000 records and 13 variables. We'll then unfold our findings through six steps: exploration, diagnosis, preprocessing, modeling, evaluation, and storytelling.</a:t>
            </a:r>
            <a:endParaRPr lang="en-US" altLang="zh-CN"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latin typeface="Arial Narrow" panose="020B0606020202030204"/>
                <a:ea typeface="Arial Narrow" panose="020B0606020202030204"/>
                <a:cs typeface="Arial Narrow" panose="020B0606020202030204"/>
                <a:sym typeface="Arial Narrow" panose="020B0606020202030204"/>
              </a:rPr>
              <a:t>Before we dive into modeling, it's crucial to understand our raw data and ensure its quality. This slide presents our initial dataset overview and diagnosis. We started with 10,841 rows and 13 variables. However, we immediately identified several quality issues. As shown, the 'Rating' column has a significant 13.6% missing values. Additionally, we found 483 duplicate entries and one malformed row with an impossible rating of 19, which is a clear outlier. Furthermore, columns like 'Installs' and 'Price' are stored as strings, which need to be converted into numeric format for analysis. Addressing these issues is the first step to building reliable models and visualizations.</a:t>
            </a:r>
            <a:endParaRPr lang="en-US" altLang="zh-CN"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latin typeface="Arial Narrow" panose="020B0606020202030204"/>
                <a:ea typeface="Arial Narrow" panose="020B0606020202030204"/>
                <a:cs typeface="Arial Narrow" panose="020B0606020202030204"/>
                <a:sym typeface="Arial Narrow" panose="020B0606020202030204"/>
              </a:rPr>
              <a:t>After identifying the data quality issues, the next critical step is data conditioning and cleaning. The goal is to transform messy metadata into comparable fields while preserving their original business meaning. As shown in the key transformations section, we converted string fields like 'Installs' and 'Price' into numeric values by removing symbols and converting units. For the 'Size' field, we standardized all values to megabytes. Importantly, for our target variable 'Rating', we chose not to impute missing values to avoid introducing bias. The pipeline in the center illustrates our cleaning process: starting from 10,841 raw records, we removed 1 malformed row, then 483 duplicates, resulting in a final clean dataset of 8,892 records ready for analysis and modeling.</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sym typeface="+mn-ea"/>
              </a:rPr>
              <a:t>Now that our data is clean, let's explore the distribution of our target variable, 'Rating', and the overall market structure. As shown in the main plot on the left, the rating distribution is heavily skewed towards the higher end, with a mean of 4.188 and a median of 4.30. In fact, 78.1% of apps have a rating of 4.0 or higher, and 31.7% have a rating of 4.5 or higher. This indicates that the market is dominated by well-rated apps. The plot on the right shows the top 10 app categories, with 'Family' and 'Game' being the most prevalent. Finally, the bottom plot reveals that the vast majority of apps are free. These three visualizations together highlight an imbalanced market structure, which is crucial to consider for our modeling phase.</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latin typeface="Arial" panose="020B0604020202090204"/>
                <a:ea typeface="Arial" panose="020B0604020202090204"/>
                <a:cs typeface="Arial" panose="020B0604020202090204"/>
                <a:sym typeface="Arial" panose="020B0604020202090204"/>
              </a:rPr>
              <a:t>Next, we investigate how ratings vary across different app types and categories. On the left, the violin plot shows the rating distribution for free versus paid apps. We can see that paid apps tend to have a slightly higher median rating. This is confirmed by the comparison cards, where the mean rating for paid apps (4.262) is slightly higher than for free apps (4.182). On the middle, the boxplot displays ratings across the top 10 categories. While there are minor differences in median ratings between categories, the most striking observation is the significant overlap in their distributions. This indicates that while type and category provide some predictive information, the variation within each group is much larger than the differences between groups.</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sym typeface="+mn-ea"/>
              </a:rPr>
              <a:t>To understand the drivers of app ratings, we first examine the relationship between individual variables and ratings. The two LOWESS plots on the left show the trend between reviews/installs and ratings. We can see a slight positive relationship, but it is very weak and noisy. This is confirmed by the correlation coefficients listed on the right, where the highest Pearson correlation with rating is only 0.137 (for Updated_Year). The heatmap on the right further illustrates these weak correlations across all numeric features. The key insight here is that no single variable can explain a significant portion of the rating variation. Therefore, our modeling strategy must focus on combining these multiple weak signals to create a more robust and stable prediction model. The features we will retain for modeling are listed in the chips at the bottom.</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sym typeface="+mn-ea"/>
              </a:rPr>
              <a:t>A critical preprocessing step was applying a log transformation to the highly skewed 'Reviews' and 'Installs' features. As shown in the plots, the raw distributions (on the left) are heavily long-tailed, making it difficult for models to learn patterns across the entire range. After log transformation (on the right), the distributions become much more symmetrical and bell-shaped, as reflected in the skewness values dropping from 16.21 to near zero for reviews. This transformation had a significant positive impact on model performance, especially for scale-sensitive models like Linear Regression and KNN, as seen in the RMSE reduction on the right. Tree-based models like Random Forest were less affected, demonstrating the importance of understanding your data and choosing appropriate preprocessing for your algorithm.</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latin typeface="Arial" panose="020B0604020202090204"/>
                <a:ea typeface="Arial" panose="020B0604020202090204"/>
                <a:cs typeface="Arial" panose="020B0604020202090204"/>
                <a:sym typeface="Arial" panose="020B0604020202090204"/>
              </a:rPr>
              <a:t>Choosing the right model is not just about picking the one with the lowest RMSE. It requires a holistic evaluation of performance, stability, and explainability. We compared three promising strategies: Linear Regression, Random Forest, and HistGradientBoosting. As shown in the error-bar plot below, HistGradientBoosting (HGB) has the lowest RMSE of 0.476, making it the top performer. However, Random Forest is a very close second at 0.478 and offers significant advantages. It is more robust, less prone to overfitting, and crucially, provides built-in tools for understanding feature importance and model behavior. Therefore, we selected Random Forest as our primary model because it strikes the best balance between performance, stability, and explainability, which is essential for our goal of gaining insights from the data.</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100">
                <a:solidFill>
                  <a:srgbClr val="000000"/>
                </a:solidFill>
                <a:latin typeface="Arial" panose="020B0604020202090204"/>
                <a:ea typeface="Arial" panose="020B0604020202090204"/>
                <a:cs typeface="Arial" panose="020B0604020202090204"/>
                <a:sym typeface="Arial" panose="020B0604020202090204"/>
              </a:rPr>
              <a:t>To optimize our Random Forest model, we performed hyperparameter tuning to find the optimal level of complexity. The parameter tiles on the left show different combinations of maximum depth and minimum samples per leaf, with their corresponding RMSE values. Using a color gradient (from green for low RMSE to red for high RMSE), we can clearly see that the combination of max_depth=10 and min_samples_leaf=7 yields the best performance with an RMSE of 0.476. Interestingly, the most complex model (no depth limit, leaf=1) actually performs worse, with an RMSE of 0.489, indicating overfitting. This demonstrates that more complexity is not always better, and moderate regularization is key for stability.</a:t>
            </a: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100" b="0" i="0" u="none" strike="noStrike">
              <a:solidFill>
                <a:srgbClr val="000000"/>
              </a:solidFill>
              <a:latin typeface="Arial Narrow" panose="020B0606020202030204"/>
              <a:ea typeface="Arial Narrow" panose="020B0606020202030204"/>
              <a:cs typeface="Arial Narrow" panose="020B0606020202030204"/>
              <a:sym typeface="Arial Narrow" panose="020B0606020202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Random Forest was evaluated on a holdout set of 1,798 apps. MAE is 0.332, RMSE is 0.495 and R² is 0.156. The hexbin plot is more informative than a single metric because it shows the model compressing predictions toward the mid-to-high rating range rather than reproducing the full spread. The residual distribution is centred near zero, but the modest R² indicates that the available metadata explains only a limited fraction of Rating variation. Limitation: this is predictive performance on the current feature set, not evidence that the metadata causally determines user ratings.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aggregate RMSE hides a much more important pattern. The left dumbbell plot compares mean actual and predicted Rating within each rating band, while the right connected-dot plot compares MAE and RMSE by band. For apps rated 3.5 or below, the actual mean is about 2.99 but the predicted mean is about 4.03, and MAE rises to about 1.039. By contrast, the 4.1–4.4 band has MAE of only about 0.154. This shows regression toward the centre: the model struggles most with genuinely low-rated apps. Limitation: the low-rating band has fewer observations than the middle bands, so band size should be considered when interpreting the error gap.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identifies which features the trained model relies on most. Log Reviews is the strongest signal: permuting it increases RMSE by about 0.126, while Log Installs increases RMSE by about 0.059. The reliability plots then show where the model is weakest. Holdout RMSE is about 1.054 for apps with fewer than 10 Reviews, and about 0.963 for apps with fewer than 1,000 Installs. Error drops sharply as evidence and exposure increase. The visual sequence therefore links explainability to reliability: the model relies on Reviews and Installs, and low values of those same variables mark the least reliable predictions. Important limitation: permutation importance describes predictive dependence and should not be interpreted as a causal effect.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shifts from model behaviour to visual storytelling. When an app has fewer than 10 Reviews, about 36.6% are rated exactly 5 stars and Rating variability is also much larger. For 100–999 Reviews, the 5-star share falls to about 0.27%, and once Reviews reach 1,000 or more, the 5-star share is 0% in this dataset. Among all 271 five-star apps, the median number of Reviews is only 4 and the median Installs is 100. The stacked composition shows that the apparent perfection of low-evidence apps is not representative of mature apps with substantial review evidence. Business interpretation: a high Rating should be qualified by how much evidence supports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high Rating is not a complete definition of app success. Using the median Rating of 4.3 and median Installs of 100,000 creates four interpretable market states. High Rating / High Exposure accounts for about 33.4% of apps and represents Market Leaders. High Rating / Low Exposure accounts for 19.6% and can be viewed as Hidden Gems. Low Rating / High Exposure accounts for 27.6% and represents At-Risk Scale, while Low Rating / Low Exposure accounts for 19.5% and represents Weak Signals. The quadrant framework combines satisfaction with adoption and therefore distinguishes apps that would look identical if we considered Rating alone. Limitation: the median thresholds are descriptive cut-offs for this dataset rather than universal business standards.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category bubble plot moves the story from individual apps to portfolio-level strategy. The horizontal axis shows median Installs on a log scale, the vertical axis shows mean Rating, and bubble size represents the number of apps. Several high-adoption categories have comparatively lower satisfaction: COMMUNICATION has mean Rating about 4.121 and VIDEO_PLAYERS about 4.045, despite median Installs around one million. ART_AND_DESIGN has a higher mean Rating of about 4.359 but median Installs of only about 100,000. EDUCATION combines a high mean Rating of about 4.355 with median Installs around one million. The managerial message is that market scale and user satisfaction are related but distinct dimensions. Only representative categories are labelled to avoid visual clutter.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management recommendation is to replace a single Rating KPI with a three-signal App Health framework. </a:t>
            </a:r>
            <a:r>
              <a:t>Rating measures satisfaction, Reviews represent evidence strength, and Installs represent market coverage. </a:t>
            </a:r>
            <a:r>
              <a:rPr dirty="0"/>
              <a:t>The action matrix turns the four market states into decisions: collect more evidence for high-rated but weak-evidence apps; maintain quality for high-rated strong-evidence apps; reassess positioning when both rating and evidence are weak; and </a:t>
            </a:r>
            <a:r>
              <a:rPr dirty="0" err="1"/>
              <a:t>prioritise</a:t>
            </a:r>
            <a:r>
              <a:rPr dirty="0"/>
              <a:t> UX diagnosis when low ratings occur at high exposure. This recommendation is supported by three earlier findings: prediction error is highest at low Reviews and low Installs, perfect five-star ratings are concentrated at low review evidence, and Reviews / Installs are the model’s strongest predictive signals. The goal is not to create a new causal score, but to make interpretation of App Health more evidence-aware.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strongest outcome of the project is not a claim that Rating can be accurately predicted from store metadata. The final Random Forest has holdout RMSE of about 0.495 but R² of only about 0.156, so the model boundary must remain explicit. Instead, the project creates a connected evidence chain: data quality and conditioning support trustworthy visualisation; EDA motivates log preprocessing; model evaluation reveals shrinkage toward the centre; band-level diagnostics expose failure on low ratings; explainability shows dependence on Reviews and Installs; and visual storytelling converts these findings into a practical App Health framework. The final recommendation is therefore to interpret Rating together with review evidence and market coverage rather than treating Rating as a standalone success KPI. Acknowledgement: Generative AI was used to assist with slide layout, wording and notes; all displayed results were checked against the supplied CSV and PNG assets.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6.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7.xml"/><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8.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0.xml"/><Relationship Id="rId4" Type="http://schemas.openxmlformats.org/officeDocument/2006/relationships/image" Target="../media/image25.sv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1.xml"/><Relationship Id="rId2" Type="http://schemas.openxmlformats.org/officeDocument/2006/relationships/image" Target="../media/image26.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2.xml"/><Relationship Id="rId2" Type="http://schemas.openxmlformats.org/officeDocument/2006/relationships/image" Target="../media/image27.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2.xml"/><Relationship Id="rId2" Type="http://schemas.openxmlformats.org/officeDocument/2006/relationships/image" Target="../media/image38.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2.xml"/><Relationship Id="rId2" Type="http://schemas.openxmlformats.org/officeDocument/2006/relationships/image" Target="../media/image39.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19" name="Title 1"/>
          <p:cNvSpPr>
            <a:spLocks noGrp="1"/>
          </p:cNvSpPr>
          <p:nvPr/>
        </p:nvSpPr>
        <p:spPr>
          <a:xfrm>
            <a:off x="596264" y="474027"/>
            <a:ext cx="12192000" cy="1499191"/>
          </a:xfrm>
        </p:spPr>
        <p:txBody>
          <a:bodyPr lIns="288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r>
              <a:rPr lang="en-SG" sz="3200" b="1" dirty="0">
                <a:solidFill>
                  <a:srgbClr val="800000"/>
                </a:solidFill>
                <a:latin typeface="Arial" panose="020B0604020202090204" pitchFamily="34" charset="0"/>
                <a:cs typeface="Arial" panose="020B0604020202090204" pitchFamily="34" charset="0"/>
              </a:rPr>
              <a:t>AI UX &amp; Data Visualisation Design Principles (CA6002)</a:t>
            </a:r>
            <a:endParaRPr lang="en-SG" sz="3200" b="1" dirty="0">
              <a:solidFill>
                <a:srgbClr val="800000"/>
              </a:solidFill>
              <a:latin typeface="Arial" panose="020B0604020202090204" pitchFamily="34" charset="0"/>
              <a:cs typeface="Arial" panose="020B0604020202090204" pitchFamily="34" charset="0"/>
            </a:endParaRPr>
          </a:p>
        </p:txBody>
      </p:sp>
      <p:sp>
        <p:nvSpPr>
          <p:cNvPr id="20" name="TextBox 10"/>
          <p:cNvSpPr txBox="1"/>
          <p:nvPr/>
        </p:nvSpPr>
        <p:spPr>
          <a:xfrm>
            <a:off x="596900" y="1972945"/>
            <a:ext cx="10850245" cy="708660"/>
          </a:xfrm>
          <a:prstGeom prst="rect">
            <a:avLst/>
          </a:prstGeom>
          <a:noFill/>
        </p:spPr>
        <p:txBody>
          <a:bodyPr wrap="square" rtlCol="0">
            <a:noAutofit/>
          </a:bodyPr>
          <a:p>
            <a:pPr algn="ctr"/>
            <a:r>
              <a:rPr lang="en-US" altLang="zh-CN" sz="2400" b="1" dirty="0">
                <a:solidFill>
                  <a:srgbClr val="0000CC"/>
                </a:solidFill>
                <a:latin typeface="Arial" panose="020B0604020202090204" pitchFamily="34" charset="0"/>
                <a:cs typeface="Arial" panose="020B0604020202090204" pitchFamily="34" charset="0"/>
              </a:rPr>
              <a:t>Beyond Raw Ratings: Interpreting Google Play App Performance</a:t>
            </a:r>
            <a:endParaRPr lang="en-SG" sz="2400" b="1" dirty="0">
              <a:solidFill>
                <a:srgbClr val="0000CC"/>
              </a:solidFill>
              <a:latin typeface="Arial" panose="020B0604020202090204" pitchFamily="34" charset="0"/>
              <a:cs typeface="Arial" panose="020B0604020202090204" pitchFamily="34" charset="0"/>
            </a:endParaRPr>
          </a:p>
        </p:txBody>
      </p:sp>
      <p:sp>
        <p:nvSpPr>
          <p:cNvPr id="21" name="TextBox 11"/>
          <p:cNvSpPr txBox="1"/>
          <p:nvPr/>
        </p:nvSpPr>
        <p:spPr>
          <a:xfrm>
            <a:off x="4645373" y="2796493"/>
            <a:ext cx="2588965" cy="481740"/>
          </a:xfrm>
          <a:prstGeom prst="rect">
            <a:avLst/>
          </a:prstGeom>
          <a:noFill/>
        </p:spPr>
        <p:txBody>
          <a:bodyPr wrap="square" rtlCol="0">
            <a:noAutofit/>
          </a:bodyPr>
          <a:lstStyle/>
          <a:p>
            <a:pPr algn="ctr"/>
            <a:r>
              <a:rPr lang="en-SG" sz="2000" b="1" dirty="0">
                <a:solidFill>
                  <a:srgbClr val="0000CC"/>
                </a:solidFill>
                <a:latin typeface="Arial" panose="020B0604020202090204" pitchFamily="34" charset="0"/>
                <a:cs typeface="Arial" panose="020B0604020202090204" pitchFamily="34" charset="0"/>
              </a:rPr>
              <a:t>by</a:t>
            </a:r>
            <a:endParaRPr lang="en-SG" sz="2000" b="1" dirty="0">
              <a:solidFill>
                <a:srgbClr val="0000CC"/>
              </a:solidFill>
              <a:latin typeface="Arial" panose="020B0604020202090204" pitchFamily="34" charset="0"/>
              <a:cs typeface="Arial" panose="020B0604020202090204" pitchFamily="34" charset="0"/>
            </a:endParaRPr>
          </a:p>
        </p:txBody>
      </p:sp>
      <p:sp>
        <p:nvSpPr>
          <p:cNvPr id="22" name="TextBox 6"/>
          <p:cNvSpPr txBox="1"/>
          <p:nvPr/>
        </p:nvSpPr>
        <p:spPr>
          <a:xfrm>
            <a:off x="-98425" y="3428969"/>
            <a:ext cx="12191999" cy="481740"/>
          </a:xfrm>
          <a:prstGeom prst="rect">
            <a:avLst/>
          </a:prstGeom>
          <a:noFill/>
        </p:spPr>
        <p:txBody>
          <a:bodyPr wrap="square" rtlCol="0">
            <a:noAutofit/>
          </a:bodyPr>
          <a:lstStyle/>
          <a:p>
            <a:pPr algn="ctr"/>
            <a:r>
              <a:rPr lang="en-SG" sz="2800" b="1" dirty="0">
                <a:latin typeface="Arial" panose="020B0604020202090204" pitchFamily="34" charset="0"/>
                <a:cs typeface="Arial" panose="020B0604020202090204" pitchFamily="34" charset="0"/>
              </a:rPr>
              <a:t>Group </a:t>
            </a:r>
            <a:r>
              <a:rPr lang="en-US" altLang="en-SG" sz="2800" b="1" dirty="0">
                <a:latin typeface="Arial" panose="020B0604020202090204" pitchFamily="34" charset="0"/>
                <a:cs typeface="Arial" panose="020B0604020202090204" pitchFamily="34" charset="0"/>
              </a:rPr>
              <a:t>22</a:t>
            </a:r>
            <a:endParaRPr lang="en-US" altLang="en-SG" sz="2800" b="1" dirty="0">
              <a:latin typeface="Arial" panose="020B0604020202090204" pitchFamily="34" charset="0"/>
              <a:cs typeface="Arial" panose="020B0604020202090204" pitchFamily="34" charset="0"/>
            </a:endParaRPr>
          </a:p>
        </p:txBody>
      </p:sp>
      <p:sp>
        <p:nvSpPr>
          <p:cNvPr id="23" name="TextBox 9"/>
          <p:cNvSpPr txBox="1"/>
          <p:nvPr/>
        </p:nvSpPr>
        <p:spPr>
          <a:xfrm>
            <a:off x="0" y="4165600"/>
            <a:ext cx="12192000" cy="2197100"/>
          </a:xfrm>
          <a:prstGeom prst="rect">
            <a:avLst/>
          </a:prstGeom>
          <a:noFill/>
        </p:spPr>
        <p:txBody>
          <a:bodyPr wrap="square" rtlCol="0">
            <a:noAutofit/>
          </a:bodyPr>
          <a:lstStyle/>
          <a:p>
            <a:pPr algn="ctr">
              <a:spcAft>
                <a:spcPts val="600"/>
              </a:spcAft>
            </a:pPr>
            <a:r>
              <a:rPr lang="en-SG" sz="2000" dirty="0">
                <a:solidFill>
                  <a:srgbClr val="0000CC"/>
                </a:solidFill>
                <a:latin typeface="Arial" panose="020B0604020202090204" pitchFamily="34" charset="0"/>
                <a:cs typeface="Arial" panose="020B0604020202090204" pitchFamily="34" charset="0"/>
              </a:rPr>
              <a:t>email: </a:t>
            </a:r>
            <a:endParaRPr lang="en-SG" sz="2000" dirty="0">
              <a:solidFill>
                <a:srgbClr val="0000CC"/>
              </a:solidFill>
              <a:latin typeface="Arial" panose="020B0604020202090204" pitchFamily="34" charset="0"/>
              <a:cs typeface="Arial" panose="020B0604020202090204" pitchFamily="34" charset="0"/>
            </a:endParaRPr>
          </a:p>
          <a:p>
            <a:pPr algn="ctr">
              <a:spcAft>
                <a:spcPts val="600"/>
              </a:spcAft>
            </a:pPr>
            <a:r>
              <a:rPr lang="en-US" altLang="zh-CN" sz="2000" i="1" dirty="0">
                <a:latin typeface="Arial" panose="020B0604020202090204" pitchFamily="34" charset="0"/>
                <a:cs typeface="Arial" panose="020B0604020202090204" pitchFamily="34" charset="0"/>
              </a:rPr>
              <a:t>XUANHUI002@e.ntu.edu.sg</a:t>
            </a:r>
            <a:endParaRPr lang="en-US" altLang="zh-CN" sz="2000" i="1" dirty="0">
              <a:latin typeface="Arial" panose="020B0604020202090204" pitchFamily="34" charset="0"/>
              <a:cs typeface="Arial" panose="020B0604020202090204" pitchFamily="34" charset="0"/>
            </a:endParaRPr>
          </a:p>
          <a:p>
            <a:pPr algn="ctr">
              <a:spcAft>
                <a:spcPts val="600"/>
              </a:spcAft>
            </a:pPr>
            <a:r>
              <a:rPr lang="en-US" altLang="zh-CN" sz="2000" i="1" dirty="0">
                <a:latin typeface="Arial" panose="020B0604020202090204" pitchFamily="34" charset="0"/>
                <a:cs typeface="Arial" panose="020B0604020202090204" pitchFamily="34" charset="0"/>
              </a:rPr>
              <a:t>LIUY0345@e.ntu.edu.sg</a:t>
            </a:r>
            <a:endParaRPr lang="en-US" altLang="zh-CN" sz="2000" i="1" dirty="0">
              <a:latin typeface="Arial" panose="020B0604020202090204" pitchFamily="34" charset="0"/>
              <a:cs typeface="Arial" panose="020B0604020202090204" pitchFamily="34" charset="0"/>
            </a:endParaRPr>
          </a:p>
          <a:p>
            <a:pPr algn="ctr">
              <a:spcAft>
                <a:spcPts val="600"/>
              </a:spcAft>
            </a:pPr>
            <a:r>
              <a:rPr lang="en-US" altLang="zh-CN" sz="2000" i="1" dirty="0">
                <a:latin typeface="Arial" panose="020B0604020202090204" pitchFamily="34" charset="0"/>
                <a:cs typeface="Arial" panose="020B0604020202090204" pitchFamily="34" charset="0"/>
              </a:rPr>
              <a:t>YUHAN048@e.ntu.edu.sg</a:t>
            </a:r>
            <a:endParaRPr lang="en-US" altLang="zh-CN" sz="2000" i="1" dirty="0">
              <a:latin typeface="Arial" panose="020B0604020202090204" pitchFamily="34" charset="0"/>
              <a:cs typeface="Arial" panose="020B0604020202090204" pitchFamily="34" charset="0"/>
            </a:endParaRPr>
          </a:p>
          <a:p>
            <a:pPr algn="ctr">
              <a:spcAft>
                <a:spcPts val="600"/>
              </a:spcAft>
            </a:pPr>
            <a:r>
              <a:rPr lang="en-US" altLang="zh-CN" sz="2000" i="1" dirty="0">
                <a:latin typeface="Arial" panose="020B0604020202090204" pitchFamily="34" charset="0"/>
                <a:cs typeface="Arial" panose="020B0604020202090204" pitchFamily="34" charset="0"/>
              </a:rPr>
              <a:t>C260089@e.ntu.edu.sg</a:t>
            </a:r>
            <a:endParaRPr lang="en-US" altLang="zh-CN" sz="2000" i="1" dirty="0">
              <a:latin typeface="Arial" panose="020B0604020202090204" pitchFamily="34" charset="0"/>
              <a:cs typeface="Arial" panose="020B060402020209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902335" y="237490"/>
            <a:ext cx="12192000" cy="685800"/>
          </a:xfrm>
          <a:prstGeom prst="rect">
            <a:avLst/>
          </a:prstGeom>
          <a:noFill/>
          <a:ln w="12700" cap="flat" cmpd="sng">
            <a:noFill/>
            <a:prstDash val="solid"/>
            <a:round/>
          </a:ln>
        </p:spPr>
        <p:txBody>
          <a:bodyPr vert="horz" wrap="square" lIns="292100" tIns="50800" rIns="88900" bIns="50800" rtlCol="0" anchor="ctr" anchorCtr="0"/>
          <a:lstStyle/>
          <a:p>
            <a:pPr marL="0" indent="0" algn="l">
              <a:lnSpc>
                <a:spcPct val="92000"/>
              </a:lnSpc>
              <a:defRPr/>
            </a:pPr>
            <a:r>
              <a:rPr lang="en-US" altLang="zh-CN" sz="2000" b="1" i="0" u="none" strike="noStrike">
                <a:solidFill>
                  <a:srgbClr val="800000"/>
                </a:solidFill>
                <a:latin typeface="Arial" panose="020B0604020202090204"/>
                <a:ea typeface="Arial" panose="020B0604020202090204"/>
                <a:cs typeface="Arial" panose="020B0604020202090204"/>
                <a:sym typeface="Arial" panose="020B0604020202090204"/>
              </a:rPr>
              <a:t>How much of the app rating information available on Google Play actually explains?</a:t>
            </a:r>
            <a:endParaRPr lang="en-US" sz="2000"/>
          </a:p>
        </p:txBody>
      </p:sp>
      <p:sp>
        <p:nvSpPr>
          <p:cNvPr id="7" name="AutoShape 7"/>
          <p:cNvSpPr/>
          <p:nvPr/>
        </p:nvSpPr>
        <p:spPr>
          <a:xfrm>
            <a:off x="532765" y="1243330"/>
            <a:ext cx="11024235" cy="1398270"/>
          </a:xfrm>
          <a:prstGeom prst="roundRect">
            <a:avLst>
              <a:gd name="adj" fmla="val 0"/>
            </a:avLst>
          </a:prstGeom>
          <a:solidFill>
            <a:srgbClr val="BDD7EE">
              <a:alpha val="100000"/>
            </a:srgbClr>
          </a:solidFill>
          <a:ln w="12700" cap="flat" cmpd="sng">
            <a:solidFill>
              <a:srgbClr val="172C51">
                <a:alpha val="100000"/>
              </a:srgbClr>
            </a:solidFill>
            <a:prstDash val="solid"/>
            <a:miter lim="1000000"/>
          </a:ln>
          <a:effectLst>
            <a:outerShdw blurRad="50800" dist="38100" dir="2700000" algn="tl" rotWithShape="0">
              <a:srgbClr val="000000">
                <a:alpha val="40000"/>
              </a:srgbClr>
            </a:outerShdw>
          </a:effectLst>
        </p:spPr>
        <p:txBody>
          <a:bodyPr vert="horz" wrap="square" lIns="88900" tIns="38100" rIns="88900" bIns="50800" rtlCol="0" anchor="t" anchorCtr="0"/>
          <a:lstStyle/>
          <a:p>
            <a:pPr marL="0" indent="0" algn="l">
              <a:lnSpc>
                <a:spcPct val="100000"/>
              </a:lnSpc>
              <a:defRPr/>
            </a:pPr>
            <a:endParaRPr lang="en-US" sz="1100"/>
          </a:p>
        </p:txBody>
      </p:sp>
      <p:sp>
        <p:nvSpPr>
          <p:cNvPr id="8" name="AutoShape 8"/>
          <p:cNvSpPr/>
          <p:nvPr/>
        </p:nvSpPr>
        <p:spPr>
          <a:xfrm>
            <a:off x="749300"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altLang="zh-CN" sz="1600"/>
              <a:t>Explore</a:t>
            </a:r>
            <a:endParaRPr lang="en-US" altLang="zh-CN" sz="1600"/>
          </a:p>
        </p:txBody>
      </p:sp>
      <p:sp>
        <p:nvSpPr>
          <p:cNvPr id="9" name="AutoShape 9"/>
          <p:cNvSpPr/>
          <p:nvPr/>
        </p:nvSpPr>
        <p:spPr>
          <a:xfrm>
            <a:off x="2129790" y="16910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10" name="AutoShape 10"/>
          <p:cNvSpPr/>
          <p:nvPr/>
        </p:nvSpPr>
        <p:spPr>
          <a:xfrm>
            <a:off x="2633980"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altLang="zh-CN" sz="1600"/>
              <a:t>Diagnose</a:t>
            </a:r>
            <a:endParaRPr lang="en-US" altLang="zh-CN" sz="1600"/>
          </a:p>
        </p:txBody>
      </p:sp>
      <p:sp>
        <p:nvSpPr>
          <p:cNvPr id="11" name="AutoShape 11"/>
          <p:cNvSpPr/>
          <p:nvPr/>
        </p:nvSpPr>
        <p:spPr>
          <a:xfrm>
            <a:off x="4014470" y="16910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12" name="AutoShape 12"/>
          <p:cNvSpPr/>
          <p:nvPr/>
        </p:nvSpPr>
        <p:spPr>
          <a:xfrm>
            <a:off x="4518025"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altLang="zh-CN" sz="1600"/>
              <a:t>Condition</a:t>
            </a:r>
            <a:endParaRPr lang="en-US" altLang="zh-CN" sz="1600"/>
          </a:p>
        </p:txBody>
      </p:sp>
      <p:sp>
        <p:nvSpPr>
          <p:cNvPr id="14" name="AutoShape 14"/>
          <p:cNvSpPr/>
          <p:nvPr/>
        </p:nvSpPr>
        <p:spPr>
          <a:xfrm>
            <a:off x="8305165"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altLang="zh-CN" sz="1600"/>
              <a:t> Evaluate </a:t>
            </a:r>
            <a:endParaRPr lang="en-US" altLang="zh-CN" sz="1600"/>
          </a:p>
        </p:txBody>
      </p:sp>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pic>
        <p:nvPicPr>
          <p:cNvPr id="21" name="图片 20" descr="问号"/>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2765" y="307975"/>
            <a:ext cx="533400" cy="533400"/>
          </a:xfrm>
          <a:prstGeom prst="rect">
            <a:avLst/>
          </a:prstGeom>
        </p:spPr>
      </p:pic>
      <p:sp>
        <p:nvSpPr>
          <p:cNvPr id="22" name="AutoShape 14"/>
          <p:cNvSpPr/>
          <p:nvPr/>
        </p:nvSpPr>
        <p:spPr>
          <a:xfrm>
            <a:off x="10099675"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Story</a:t>
            </a:r>
            <a:endParaRPr lang="en-US" altLang="zh-CN" sz="1600"/>
          </a:p>
        </p:txBody>
      </p:sp>
      <p:sp>
        <p:nvSpPr>
          <p:cNvPr id="23" name="AutoShape 14"/>
          <p:cNvSpPr/>
          <p:nvPr/>
        </p:nvSpPr>
        <p:spPr>
          <a:xfrm>
            <a:off x="6510655" y="15259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altLang="zh-CN" sz="1600"/>
              <a:t>Model</a:t>
            </a:r>
            <a:endParaRPr lang="en-US" altLang="zh-CN" sz="1600"/>
          </a:p>
        </p:txBody>
      </p:sp>
      <p:sp>
        <p:nvSpPr>
          <p:cNvPr id="26" name="AutoShape 11"/>
          <p:cNvSpPr/>
          <p:nvPr/>
        </p:nvSpPr>
        <p:spPr>
          <a:xfrm>
            <a:off x="5952490" y="16910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p>
            <a:pPr algn="ctr">
              <a:defRPr/>
            </a:pPr>
          </a:p>
        </p:txBody>
      </p:sp>
      <p:sp>
        <p:nvSpPr>
          <p:cNvPr id="27" name="AutoShape 11"/>
          <p:cNvSpPr/>
          <p:nvPr/>
        </p:nvSpPr>
        <p:spPr>
          <a:xfrm>
            <a:off x="7846060" y="16910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28" name="AutoShape 11"/>
          <p:cNvSpPr/>
          <p:nvPr/>
        </p:nvSpPr>
        <p:spPr>
          <a:xfrm>
            <a:off x="9640570" y="16910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lstStyle/>
          <a:p>
            <a:pPr algn="ctr">
              <a:defRPr/>
            </a:pPr>
          </a:p>
        </p:txBody>
      </p:sp>
      <p:sp>
        <p:nvSpPr>
          <p:cNvPr id="30" name="AutoShape 2"/>
          <p:cNvSpPr/>
          <p:nvPr/>
        </p:nvSpPr>
        <p:spPr>
          <a:xfrm>
            <a:off x="2459355" y="5582920"/>
            <a:ext cx="7090410" cy="685800"/>
          </a:xfrm>
          <a:prstGeom prst="rect">
            <a:avLst/>
          </a:prstGeom>
          <a:noFill/>
          <a:ln w="12700" cap="flat" cmpd="sng">
            <a:noFill/>
            <a:prstDash val="solid"/>
            <a:round/>
          </a:ln>
        </p:spPr>
        <p:txBody>
          <a:bodyPr vert="horz" wrap="square" lIns="292100" tIns="50800" rIns="88900" bIns="50800" rtlCol="0" anchor="ctr" anchorCtr="0"/>
          <a:p>
            <a:pPr marL="0" indent="0" algn="ctr">
              <a:lnSpc>
                <a:spcPct val="92000"/>
              </a:lnSpc>
              <a:defRPr/>
            </a:pPr>
            <a:r>
              <a:rPr lang="en-US" altLang="zh-CN" sz="1000" b="1" i="0" u="none" strike="noStrike">
                <a:solidFill>
                  <a:srgbClr val="800000"/>
                </a:solidFill>
                <a:latin typeface="Arial" panose="020B0604020202090204"/>
                <a:ea typeface="Arial" panose="020B0604020202090204"/>
                <a:cs typeface="Arial" panose="020B0604020202090204"/>
                <a:sym typeface="Arial" panose="020B0604020202090204"/>
              </a:rPr>
              <a:t>Data source: Google Play Store, 10,841 raw records, 13 variables</a:t>
            </a:r>
            <a:endParaRPr lang="en-US" sz="1000"/>
          </a:p>
        </p:txBody>
      </p:sp>
      <p:sp>
        <p:nvSpPr>
          <p:cNvPr id="31" name="AutoShape 17"/>
          <p:cNvSpPr/>
          <p:nvPr/>
        </p:nvSpPr>
        <p:spPr>
          <a:xfrm>
            <a:off x="805815" y="4242435"/>
            <a:ext cx="3072765" cy="876935"/>
          </a:xfrm>
          <a:prstGeom prst="roundRect">
            <a:avLst>
              <a:gd name="adj" fmla="val 12500"/>
            </a:avLst>
          </a:prstGeom>
          <a:solidFill>
            <a:srgbClr val="BDD7EE"/>
          </a:solidFill>
          <a:ln w="12700" cap="flat" cmpd="sng">
            <a:solidFill>
              <a:srgbClr val="BDD7EE">
                <a:alpha val="100000"/>
              </a:srgbClr>
            </a:solidFill>
            <a:prstDash val="solid"/>
            <a:round/>
          </a:ln>
        </p:spPr>
        <p:txBody>
          <a:bodyPr vert="horz" wrap="square" lIns="254000" tIns="0" rIns="254000" bIns="0" rtlCol="0" anchor="ctr" anchorCtr="0"/>
          <a:p>
            <a:pPr marL="0" indent="0" algn="ctr">
              <a:lnSpc>
                <a:spcPct val="125000"/>
              </a:lnSpc>
              <a:defRPr/>
            </a:pPr>
            <a:r>
              <a:rPr lang="en-US" altLang="zh-CN" sz="1800" b="1" i="0" u="none" strike="noStrike">
                <a:solidFill>
                  <a:srgbClr val="800000"/>
                </a:solidFill>
                <a:latin typeface="Noto Sans SC"/>
                <a:ea typeface="Noto Sans SC"/>
                <a:cs typeface="Noto Sans SC"/>
                <a:sym typeface="Noto Sans SC"/>
              </a:rPr>
              <a:t>what information is truly effective</a:t>
            </a:r>
            <a:r>
              <a:rPr lang="en-US" sz="1800" b="1" i="0" u="none" strike="noStrike">
                <a:solidFill>
                  <a:srgbClr val="800000"/>
                </a:solidFill>
                <a:latin typeface="Noto Sans SC"/>
                <a:ea typeface="Noto Sans SC"/>
                <a:cs typeface="Noto Sans SC"/>
                <a:sym typeface="Noto Sans SC"/>
              </a:rPr>
              <a:t>？</a:t>
            </a:r>
            <a:endParaRPr lang="en-US" sz="1800" b="1" i="0" u="none" strike="noStrike">
              <a:solidFill>
                <a:srgbClr val="800000"/>
              </a:solidFill>
              <a:latin typeface="Noto Sans SC"/>
              <a:ea typeface="Noto Sans SC"/>
              <a:cs typeface="Noto Sans SC"/>
              <a:sym typeface="Noto Sans SC"/>
            </a:endParaRPr>
          </a:p>
        </p:txBody>
      </p:sp>
      <p:sp>
        <p:nvSpPr>
          <p:cNvPr id="34" name="AutoShape 17"/>
          <p:cNvSpPr/>
          <p:nvPr/>
        </p:nvSpPr>
        <p:spPr>
          <a:xfrm>
            <a:off x="4662170" y="4240530"/>
            <a:ext cx="3072765" cy="876935"/>
          </a:xfrm>
          <a:prstGeom prst="roundRect">
            <a:avLst>
              <a:gd name="adj" fmla="val 12500"/>
            </a:avLst>
          </a:prstGeom>
          <a:solidFill>
            <a:srgbClr val="BDD7EE"/>
          </a:solidFill>
          <a:ln w="12700" cap="flat" cmpd="sng">
            <a:solidFill>
              <a:srgbClr val="BDD7EE">
                <a:alpha val="100000"/>
              </a:srgbClr>
            </a:solidFill>
            <a:prstDash val="solid"/>
            <a:round/>
          </a:ln>
        </p:spPr>
        <p:txBody>
          <a:bodyPr vert="horz" wrap="square" lIns="254000" tIns="0" rIns="254000" bIns="0" rtlCol="0" anchor="ctr" anchorCtr="0"/>
          <a:p>
            <a:pPr marL="0" indent="0" algn="ctr">
              <a:lnSpc>
                <a:spcPct val="125000"/>
              </a:lnSpc>
              <a:defRPr/>
            </a:pPr>
            <a:r>
              <a:rPr lang="en-US" altLang="zh-CN" sz="1800" b="1" i="0" u="none" strike="noStrike">
                <a:solidFill>
                  <a:srgbClr val="800000"/>
                </a:solidFill>
                <a:latin typeface="Noto Sans SC"/>
                <a:ea typeface="Noto Sans SC"/>
                <a:cs typeface="Noto Sans SC"/>
                <a:sym typeface="Noto Sans SC"/>
              </a:rPr>
              <a:t> where the model fails</a:t>
            </a:r>
            <a:r>
              <a:rPr lang="en-US" sz="1800" b="1" i="0" u="none" strike="noStrike">
                <a:solidFill>
                  <a:srgbClr val="800000"/>
                </a:solidFill>
                <a:latin typeface="Noto Sans SC"/>
                <a:ea typeface="Noto Sans SC"/>
                <a:cs typeface="Noto Sans SC"/>
                <a:sym typeface="Noto Sans SC"/>
              </a:rPr>
              <a:t>？</a:t>
            </a:r>
            <a:endParaRPr lang="en-US" sz="1800" b="1" i="0" u="none" strike="noStrike">
              <a:solidFill>
                <a:srgbClr val="800000"/>
              </a:solidFill>
              <a:latin typeface="Noto Sans SC"/>
              <a:ea typeface="Noto Sans SC"/>
              <a:cs typeface="Noto Sans SC"/>
              <a:sym typeface="Noto Sans SC"/>
            </a:endParaRPr>
          </a:p>
        </p:txBody>
      </p:sp>
      <p:sp>
        <p:nvSpPr>
          <p:cNvPr id="35" name="AutoShape 17"/>
          <p:cNvSpPr/>
          <p:nvPr/>
        </p:nvSpPr>
        <p:spPr>
          <a:xfrm>
            <a:off x="8518525" y="4240530"/>
            <a:ext cx="3072765" cy="876935"/>
          </a:xfrm>
          <a:prstGeom prst="roundRect">
            <a:avLst>
              <a:gd name="adj" fmla="val 12500"/>
            </a:avLst>
          </a:prstGeom>
          <a:solidFill>
            <a:srgbClr val="BDD7EE"/>
          </a:solidFill>
          <a:ln w="12700" cap="flat" cmpd="sng">
            <a:solidFill>
              <a:srgbClr val="BDD7EE">
                <a:alpha val="100000"/>
              </a:srgbClr>
            </a:solidFill>
            <a:prstDash val="solid"/>
            <a:round/>
          </a:ln>
        </p:spPr>
        <p:txBody>
          <a:bodyPr vert="horz" wrap="square" lIns="254000" tIns="0" rIns="254000" bIns="0" rtlCol="0" anchor="ctr" anchorCtr="0"/>
          <a:p>
            <a:pPr marL="0" indent="0" algn="ctr">
              <a:lnSpc>
                <a:spcPct val="125000"/>
              </a:lnSpc>
              <a:defRPr/>
            </a:pPr>
            <a:r>
              <a:rPr lang="en-US" altLang="zh-CN" sz="1800" b="1" i="0" u="none" strike="noStrike">
                <a:solidFill>
                  <a:srgbClr val="800000"/>
                </a:solidFill>
                <a:latin typeface="Noto Sans SC"/>
                <a:ea typeface="Noto Sans SC"/>
                <a:cs typeface="Noto Sans SC"/>
                <a:sym typeface="Noto Sans SC"/>
              </a:rPr>
              <a:t>what a high rating actually means</a:t>
            </a:r>
            <a:r>
              <a:rPr lang="en-US" sz="1800" b="1" i="0" u="none" strike="noStrike">
                <a:solidFill>
                  <a:srgbClr val="800000"/>
                </a:solidFill>
                <a:latin typeface="Noto Sans SC"/>
                <a:ea typeface="Noto Sans SC"/>
                <a:cs typeface="Noto Sans SC"/>
                <a:sym typeface="Noto Sans SC"/>
              </a:rPr>
              <a:t>？</a:t>
            </a:r>
            <a:endParaRPr lang="en-US" sz="1800" b="1" i="0" u="none" strike="noStrike">
              <a:solidFill>
                <a:srgbClr val="800000"/>
              </a:solidFill>
              <a:latin typeface="Noto Sans SC"/>
              <a:ea typeface="Noto Sans SC"/>
              <a:cs typeface="Noto Sans SC"/>
              <a:sym typeface="Noto Sans SC"/>
            </a:endParaRPr>
          </a:p>
        </p:txBody>
      </p:sp>
      <p:sp>
        <p:nvSpPr>
          <p:cNvPr id="36" name="AutoShape 2"/>
          <p:cNvSpPr/>
          <p:nvPr/>
        </p:nvSpPr>
        <p:spPr>
          <a:xfrm>
            <a:off x="532765" y="3471545"/>
            <a:ext cx="709041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altLang="zh-CN" sz="1800" b="1" i="0" u="none" strike="noStrike">
                <a:solidFill>
                  <a:srgbClr val="800000"/>
                </a:solidFill>
                <a:latin typeface="Arial" panose="020B0604020202090204"/>
                <a:ea typeface="Arial" panose="020B0604020202090204"/>
                <a:cs typeface="Arial" panose="020B0604020202090204"/>
                <a:sym typeface="Arial" panose="020B0604020202090204"/>
              </a:rPr>
              <a:t>We don't just want to predict ratings; we want to understand：</a:t>
            </a:r>
            <a:endParaRPr lang="en-US" sz="1800"/>
          </a:p>
        </p:txBody>
      </p:sp>
      <p:sp>
        <p:nvSpPr>
          <p:cNvPr id="4"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a:t>
            </a:r>
            <a:r>
              <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HAN</a:t>
            </a:r>
            <a:endPar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7" name="AutoShape 7"/>
          <p:cNvSpPr/>
          <p:nvPr/>
        </p:nvSpPr>
        <p:spPr>
          <a:xfrm>
            <a:off x="1325245" y="916940"/>
            <a:ext cx="7309485" cy="5206365"/>
          </a:xfrm>
          <a:prstGeom prst="roundRect">
            <a:avLst>
              <a:gd name="adj" fmla="val 0"/>
            </a:avLst>
          </a:prstGeom>
          <a:solidFill>
            <a:srgbClr val="BDD7EE">
              <a:alpha val="100000"/>
            </a:srgbClr>
          </a:solidFill>
          <a:ln w="12700" cap="flat" cmpd="sng">
            <a:solidFill>
              <a:srgbClr val="172C51">
                <a:alpha val="100000"/>
              </a:srgbClr>
            </a:solidFill>
            <a:prstDash val="solid"/>
            <a:miter lim="1000000"/>
          </a:ln>
          <a:effectLst>
            <a:outerShdw blurRad="50800" dist="38100" dir="2700000" algn="tl" rotWithShape="0">
              <a:srgbClr val="000000">
                <a:alpha val="40000"/>
              </a:srgbClr>
            </a:outerShdw>
          </a:effectLst>
        </p:spPr>
        <p:txBody>
          <a:bodyPr vert="horz" wrap="square" lIns="88900" tIns="38100" rIns="88900" bIns="50800" rtlCol="0" anchor="t" anchorCtr="0"/>
          <a:p>
            <a:pPr marL="0" indent="0" algn="l">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dataset overview:</a:t>
            </a:r>
            <a:endParaRPr lang="en-US" sz="1100"/>
          </a:p>
        </p:txBody>
      </p:sp>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4" name="Title 1"/>
          <p:cNvSpPr>
            <a:spLocks noGrp="1"/>
          </p:cNvSpPr>
          <p:nvPr/>
        </p:nvSpPr>
        <p:spPr>
          <a:xfrm>
            <a:off x="8634730" y="5434965"/>
            <a:ext cx="4455160" cy="688340"/>
          </a:xfrm>
          <a:prstGeom prst="rect">
            <a:avLst/>
          </a:prstGeom>
        </p:spPr>
        <p:txBody>
          <a:bodyPr vert="horz" lIns="288000" tIns="45720" rIns="91440" bIns="4572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1300" b="1" dirty="0">
                <a:solidFill>
                  <a:srgbClr val="800000"/>
                </a:solidFill>
                <a:latin typeface="Arial" panose="020B0604020202090204" pitchFamily="34" charset="0"/>
                <a:cs typeface="Arial" panose="020B0604020202090204" pitchFamily="34" charset="0"/>
              </a:rPr>
              <a:t>Before choosing an algorithm, </a:t>
            </a:r>
            <a:endParaRPr lang="en-US" altLang="zh-CN" sz="1300" b="1" dirty="0">
              <a:solidFill>
                <a:srgbClr val="800000"/>
              </a:solidFill>
              <a:latin typeface="Arial" panose="020B0604020202090204" pitchFamily="34" charset="0"/>
              <a:cs typeface="Arial" panose="020B0604020202090204" pitchFamily="34" charset="0"/>
            </a:endParaRPr>
          </a:p>
          <a:p>
            <a:pPr algn="l"/>
            <a:r>
              <a:rPr lang="en-US" altLang="zh-CN" sz="1300" b="1" dirty="0">
                <a:solidFill>
                  <a:srgbClr val="800000"/>
                </a:solidFill>
                <a:latin typeface="Arial" panose="020B0604020202090204" pitchFamily="34" charset="0"/>
                <a:cs typeface="Arial" panose="020B0604020202090204" pitchFamily="34" charset="0"/>
              </a:rPr>
              <a:t>we first ensure that </a:t>
            </a:r>
            <a:endParaRPr lang="en-US" altLang="zh-CN" sz="1300" b="1" dirty="0">
              <a:solidFill>
                <a:srgbClr val="800000"/>
              </a:solidFill>
              <a:latin typeface="Arial" panose="020B0604020202090204" pitchFamily="34" charset="0"/>
              <a:cs typeface="Arial" panose="020B0604020202090204" pitchFamily="34" charset="0"/>
            </a:endParaRPr>
          </a:p>
          <a:p>
            <a:pPr algn="l"/>
            <a:r>
              <a:rPr lang="en-US" altLang="zh-CN" sz="1300" b="1" dirty="0">
                <a:solidFill>
                  <a:srgbClr val="800000"/>
                </a:solidFill>
                <a:latin typeface="Arial" panose="020B0604020202090204" pitchFamily="34" charset="0"/>
                <a:cs typeface="Arial" panose="020B0604020202090204" pitchFamily="34" charset="0"/>
              </a:rPr>
              <a:t>all visualizations and models are </a:t>
            </a:r>
            <a:endParaRPr lang="en-US" altLang="zh-CN" sz="1300" b="1" dirty="0">
              <a:solidFill>
                <a:srgbClr val="800000"/>
              </a:solidFill>
              <a:latin typeface="Arial" panose="020B0604020202090204" pitchFamily="34" charset="0"/>
              <a:cs typeface="Arial" panose="020B0604020202090204" pitchFamily="34" charset="0"/>
            </a:endParaRPr>
          </a:p>
          <a:p>
            <a:pPr algn="l"/>
            <a:r>
              <a:rPr lang="en-US" altLang="zh-CN" sz="1300" b="1" dirty="0">
                <a:solidFill>
                  <a:srgbClr val="800000"/>
                </a:solidFill>
                <a:latin typeface="Arial" panose="020B0604020202090204" pitchFamily="34" charset="0"/>
                <a:cs typeface="Arial" panose="020B0604020202090204" pitchFamily="34" charset="0"/>
              </a:rPr>
              <a:t>built on reliable data.</a:t>
            </a:r>
            <a:r>
              <a:rPr lang="en-SG" sz="1300" b="1" dirty="0">
                <a:solidFill>
                  <a:srgbClr val="800000"/>
                </a:solidFill>
                <a:latin typeface="Arial" panose="020B0604020202090204" pitchFamily="34" charset="0"/>
                <a:cs typeface="Arial" panose="020B0604020202090204" pitchFamily="34" charset="0"/>
              </a:rPr>
              <a:t> </a:t>
            </a:r>
            <a:endParaRPr lang="en-SG" sz="1300" b="1" dirty="0">
              <a:solidFill>
                <a:srgbClr val="800000"/>
              </a:solidFill>
              <a:latin typeface="Arial" panose="020B0604020202090204" pitchFamily="34" charset="0"/>
              <a:cs typeface="Arial" panose="020B0604020202090204" pitchFamily="34" charset="0"/>
            </a:endParaRPr>
          </a:p>
        </p:txBody>
      </p:sp>
      <p:sp>
        <p:nvSpPr>
          <p:cNvPr id="8" name="AutoShape 8"/>
          <p:cNvSpPr/>
          <p:nvPr/>
        </p:nvSpPr>
        <p:spPr>
          <a:xfrm>
            <a:off x="3526790" y="3296920"/>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missing rating:</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13.6%(1474)</a:t>
            </a:r>
            <a:endParaRPr lang="en-US" sz="1100"/>
          </a:p>
        </p:txBody>
      </p:sp>
      <p:sp>
        <p:nvSpPr>
          <p:cNvPr id="5" name="AutoShape 8"/>
          <p:cNvSpPr/>
          <p:nvPr/>
        </p:nvSpPr>
        <p:spPr>
          <a:xfrm>
            <a:off x="3526790" y="2258060"/>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raw </a:t>
            </a: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variables:</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13</a:t>
            </a:r>
            <a:endParaRPr lang="en-US" sz="1100"/>
          </a:p>
        </p:txBody>
      </p:sp>
      <p:sp>
        <p:nvSpPr>
          <p:cNvPr id="6" name="AutoShape 8"/>
          <p:cNvSpPr/>
          <p:nvPr/>
        </p:nvSpPr>
        <p:spPr>
          <a:xfrm>
            <a:off x="3526790" y="1244600"/>
            <a:ext cx="254254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raw rows:</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10841</a:t>
            </a:r>
            <a:endParaRPr lang="en-US" sz="1100"/>
          </a:p>
        </p:txBody>
      </p:sp>
      <p:sp>
        <p:nvSpPr>
          <p:cNvPr id="13" name="AutoShape 8"/>
          <p:cNvSpPr/>
          <p:nvPr/>
        </p:nvSpPr>
        <p:spPr>
          <a:xfrm>
            <a:off x="3526155" y="4284980"/>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exact duplicate rows:</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483</a:t>
            </a:r>
            <a:endParaRPr lang="en-US" sz="1100"/>
          </a:p>
        </p:txBody>
      </p:sp>
      <p:sp>
        <p:nvSpPr>
          <p:cNvPr id="14" name="AutoShape 8"/>
          <p:cNvSpPr/>
          <p:nvPr/>
        </p:nvSpPr>
        <p:spPr>
          <a:xfrm>
            <a:off x="3526790" y="5273040"/>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Malformed row:</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19</a:t>
            </a:r>
            <a:endParaRPr lang="en-US" sz="1100"/>
          </a:p>
        </p:txBody>
      </p:sp>
      <p:sp>
        <p:nvSpPr>
          <p:cNvPr id="15" name="Title 1"/>
          <p:cNvSpPr>
            <a:spLocks noGrp="1"/>
          </p:cNvSpPr>
          <p:nvPr/>
        </p:nvSpPr>
        <p:spPr>
          <a:xfrm>
            <a:off x="107950" y="127000"/>
            <a:ext cx="4890135" cy="688340"/>
          </a:xfrm>
          <a:prstGeom prst="rect">
            <a:avLst/>
          </a:prstGeom>
        </p:spPr>
        <p:txBody>
          <a:bodyPr vert="horz" lIns="288000" tIns="45720" rIns="91440" bIns="4572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SG" sz="3200" b="1" dirty="0">
                <a:solidFill>
                  <a:srgbClr val="800000"/>
                </a:solidFill>
                <a:latin typeface="Arial" panose="020B0604020202090204" pitchFamily="34" charset="0"/>
                <a:cs typeface="Arial" panose="020B0604020202090204" pitchFamily="34" charset="0"/>
              </a:rPr>
              <a:t>Exploration of Dataset</a:t>
            </a:r>
            <a:endParaRPr lang="en-SG" sz="3200" b="1" dirty="0">
              <a:solidFill>
                <a:srgbClr val="800000"/>
              </a:solidFill>
              <a:latin typeface="Arial" panose="020B0604020202090204" pitchFamily="34" charset="0"/>
              <a:cs typeface="Arial" panose="020B0604020202090204" pitchFamily="34" charset="0"/>
            </a:endParaRPr>
          </a:p>
        </p:txBody>
      </p:sp>
      <p:pic>
        <p:nvPicPr>
          <p:cNvPr id="2" name="图片 1" descr="截屏2026-08-29 15.09.31"/>
          <p:cNvPicPr>
            <a:picLocks noChangeAspect="1"/>
          </p:cNvPicPr>
          <p:nvPr/>
        </p:nvPicPr>
        <p:blipFill>
          <a:blip r:embed="rId2"/>
          <a:stretch>
            <a:fillRect/>
          </a:stretch>
        </p:blipFill>
        <p:spPr>
          <a:xfrm>
            <a:off x="6210300" y="4702175"/>
            <a:ext cx="5867400" cy="570865"/>
          </a:xfrm>
          <a:prstGeom prst="rect">
            <a:avLst/>
          </a:prstGeom>
        </p:spPr>
      </p:pic>
      <p:pic>
        <p:nvPicPr>
          <p:cNvPr id="10" name="图片 9" descr="箭头-直角-右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7880000">
            <a:off x="6208395" y="5185410"/>
            <a:ext cx="801370" cy="795020"/>
          </a:xfrm>
          <a:prstGeom prst="rect">
            <a:avLst/>
          </a:prstGeom>
        </p:spPr>
      </p:pic>
      <p:sp>
        <p:nvSpPr>
          <p:cNvPr id="3"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a:t>
            </a:r>
            <a:r>
              <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HAN</a:t>
            </a:r>
            <a:endPar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38" name="AutoShape 7"/>
          <p:cNvSpPr/>
          <p:nvPr/>
        </p:nvSpPr>
        <p:spPr>
          <a:xfrm>
            <a:off x="6659245" y="1054100"/>
            <a:ext cx="4579620" cy="5206365"/>
          </a:xfrm>
          <a:prstGeom prst="roundRect">
            <a:avLst>
              <a:gd name="adj" fmla="val 0"/>
            </a:avLst>
          </a:prstGeom>
          <a:solidFill>
            <a:srgbClr val="BDD7EE">
              <a:alpha val="100000"/>
            </a:srgbClr>
          </a:solidFill>
          <a:ln w="12700" cap="flat" cmpd="sng">
            <a:solidFill>
              <a:srgbClr val="172C51">
                <a:alpha val="100000"/>
              </a:srgbClr>
            </a:solidFill>
            <a:prstDash val="solid"/>
            <a:miter lim="1000000"/>
          </a:ln>
          <a:effectLst>
            <a:outerShdw blurRad="50800" dist="38100" dir="2700000" algn="tl" rotWithShape="0">
              <a:srgbClr val="000000">
                <a:alpha val="40000"/>
              </a:srgbClr>
            </a:outerShdw>
          </a:effectLst>
        </p:spPr>
        <p:txBody>
          <a:bodyPr vert="horz" wrap="square" lIns="88900" tIns="38100" rIns="88900" bIns="50800" rtlCol="0" anchor="t" anchorCtr="0"/>
          <a:p>
            <a:pPr marL="0" indent="0" algn="l">
              <a:lnSpc>
                <a:spcPct val="100000"/>
              </a:lnSpc>
              <a:defRPr/>
            </a:pPr>
            <a:endParaRPr lang="en-US" sz="1100"/>
          </a:p>
        </p:txBody>
      </p:sp>
      <p:sp>
        <p:nvSpPr>
          <p:cNvPr id="37" name="AutoShape 7"/>
          <p:cNvSpPr/>
          <p:nvPr/>
        </p:nvSpPr>
        <p:spPr>
          <a:xfrm>
            <a:off x="817245" y="1054100"/>
            <a:ext cx="4579620" cy="5206365"/>
          </a:xfrm>
          <a:prstGeom prst="roundRect">
            <a:avLst>
              <a:gd name="adj" fmla="val 0"/>
            </a:avLst>
          </a:prstGeom>
          <a:solidFill>
            <a:srgbClr val="BDD7EE">
              <a:alpha val="100000"/>
            </a:srgbClr>
          </a:solidFill>
          <a:ln w="12700" cap="flat" cmpd="sng">
            <a:gradFill>
              <a:gsLst>
                <a:gs pos="0">
                  <a:srgbClr val="BDD4F6"/>
                </a:gs>
                <a:gs pos="100000">
                  <a:srgbClr val="4D8DE5"/>
                </a:gs>
              </a:gsLst>
              <a:lin ang="5400000" scaled="0"/>
            </a:gradFill>
            <a:prstDash val="solid"/>
            <a:miter lim="1000000"/>
          </a:ln>
          <a:effectLst>
            <a:outerShdw blurRad="50800" dist="38100" dir="2700000" algn="tl" rotWithShape="0">
              <a:srgbClr val="000000">
                <a:alpha val="40000"/>
              </a:srgbClr>
            </a:outerShdw>
          </a:effectLst>
        </p:spPr>
        <p:txBody>
          <a:bodyPr vert="horz" wrap="square" lIns="88900" tIns="38100" rIns="88900" bIns="50800" rtlCol="0" anchor="t" anchorCtr="0"/>
          <a:p>
            <a:pPr marL="0" indent="0" algn="l">
              <a:lnSpc>
                <a:spcPct val="100000"/>
              </a:lnSpc>
              <a:defRPr/>
            </a:pPr>
            <a:endParaRPr lang="en-US" sz="1100"/>
          </a:p>
        </p:txBody>
      </p:sp>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2" name="AutoShape 2"/>
          <p:cNvSpPr/>
          <p:nvPr/>
        </p:nvSpPr>
        <p:spPr>
          <a:xfrm>
            <a:off x="1461770" y="952500"/>
            <a:ext cx="16891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1800" b="1" i="0" u="none" strike="noStrike">
                <a:solidFill>
                  <a:srgbClr val="800000"/>
                </a:solidFill>
                <a:latin typeface="Arial" panose="020B0604020202090204"/>
                <a:ea typeface="Arial" panose="020B0604020202090204"/>
                <a:cs typeface="Arial" panose="020B0604020202090204"/>
                <a:sym typeface="Arial" panose="020B0604020202090204"/>
              </a:rPr>
              <a:t>before</a:t>
            </a:r>
            <a:endParaRPr lang="en-US" sz="1800" b="1" i="0" u="none" strike="noStrike">
              <a:solidFill>
                <a:srgbClr val="800000"/>
              </a:solidFill>
              <a:latin typeface="Arial" panose="020B0604020202090204"/>
              <a:ea typeface="Arial" panose="020B0604020202090204"/>
              <a:cs typeface="Arial" panose="020B0604020202090204"/>
              <a:sym typeface="Arial" panose="020B0604020202090204"/>
            </a:endParaRPr>
          </a:p>
        </p:txBody>
      </p:sp>
      <p:sp>
        <p:nvSpPr>
          <p:cNvPr id="8" name="AutoShape 8"/>
          <p:cNvSpPr/>
          <p:nvPr/>
        </p:nvSpPr>
        <p:spPr>
          <a:xfrm>
            <a:off x="1473835" y="16021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Installs</a:t>
            </a:r>
            <a:endParaRPr lang="en-US" altLang="zh-CN" sz="1600"/>
          </a:p>
          <a:p>
            <a:pPr marL="0" indent="0" algn="ctr">
              <a:lnSpc>
                <a:spcPct val="100000"/>
              </a:lnSpc>
              <a:defRPr/>
            </a:pPr>
            <a:r>
              <a:rPr lang="en-US" altLang="zh-CN" sz="1600"/>
              <a:t>'10,000+'</a:t>
            </a:r>
            <a:endParaRPr lang="en-US" altLang="zh-CN" sz="1600"/>
          </a:p>
        </p:txBody>
      </p:sp>
      <p:sp>
        <p:nvSpPr>
          <p:cNvPr id="9" name="AutoShape 9"/>
          <p:cNvSpPr/>
          <p:nvPr/>
        </p:nvSpPr>
        <p:spPr>
          <a:xfrm>
            <a:off x="2854325" y="176720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p>
            <a:pPr algn="ctr">
              <a:defRPr/>
            </a:pPr>
          </a:p>
        </p:txBody>
      </p:sp>
      <p:sp>
        <p:nvSpPr>
          <p:cNvPr id="10" name="AutoShape 10"/>
          <p:cNvSpPr/>
          <p:nvPr/>
        </p:nvSpPr>
        <p:spPr>
          <a:xfrm>
            <a:off x="3358515" y="160210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10,000</a:t>
            </a:r>
            <a:endParaRPr lang="en-US" altLang="zh-CN" sz="1600"/>
          </a:p>
        </p:txBody>
      </p:sp>
      <p:sp>
        <p:nvSpPr>
          <p:cNvPr id="14" name="AutoShape 14"/>
          <p:cNvSpPr/>
          <p:nvPr/>
        </p:nvSpPr>
        <p:spPr>
          <a:xfrm>
            <a:off x="3357245" y="2874010"/>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 4.99 </a:t>
            </a:r>
            <a:endParaRPr lang="en-US" altLang="zh-CN" sz="1600"/>
          </a:p>
        </p:txBody>
      </p:sp>
      <p:sp>
        <p:nvSpPr>
          <p:cNvPr id="23" name="AutoShape 14"/>
          <p:cNvSpPr/>
          <p:nvPr/>
        </p:nvSpPr>
        <p:spPr>
          <a:xfrm>
            <a:off x="1473835" y="2874010"/>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price</a:t>
            </a:r>
            <a:endParaRPr lang="en-US" altLang="zh-CN" sz="1600"/>
          </a:p>
          <a:p>
            <a:pPr marL="0" indent="0" algn="ctr">
              <a:lnSpc>
                <a:spcPct val="100000"/>
              </a:lnSpc>
              <a:defRPr/>
            </a:pPr>
            <a:r>
              <a:rPr lang="en-US" altLang="zh-CN" sz="1600"/>
              <a:t>'$4.99'</a:t>
            </a:r>
            <a:endParaRPr lang="en-US" altLang="zh-CN" sz="1600"/>
          </a:p>
        </p:txBody>
      </p:sp>
      <p:sp>
        <p:nvSpPr>
          <p:cNvPr id="27" name="AutoShape 11"/>
          <p:cNvSpPr/>
          <p:nvPr/>
        </p:nvSpPr>
        <p:spPr>
          <a:xfrm>
            <a:off x="2809240" y="3039110"/>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p>
            <a:pPr algn="ctr">
              <a:defRPr/>
            </a:pPr>
          </a:p>
        </p:txBody>
      </p:sp>
      <p:sp>
        <p:nvSpPr>
          <p:cNvPr id="20" name="AutoShape 8"/>
          <p:cNvSpPr/>
          <p:nvPr/>
        </p:nvSpPr>
        <p:spPr>
          <a:xfrm>
            <a:off x="1473835" y="420941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size</a:t>
            </a:r>
            <a:endParaRPr lang="en-US" altLang="zh-CN" sz="1600"/>
          </a:p>
          <a:p>
            <a:pPr marL="0" indent="0" algn="ctr">
              <a:lnSpc>
                <a:spcPct val="100000"/>
              </a:lnSpc>
              <a:defRPr/>
            </a:pPr>
            <a:r>
              <a:rPr lang="en-US" altLang="zh-CN" sz="1600"/>
              <a:t>500k'</a:t>
            </a:r>
            <a:endParaRPr lang="en-US" altLang="zh-CN" sz="1600"/>
          </a:p>
        </p:txBody>
      </p:sp>
      <p:sp>
        <p:nvSpPr>
          <p:cNvPr id="21" name="AutoShape 9"/>
          <p:cNvSpPr/>
          <p:nvPr/>
        </p:nvSpPr>
        <p:spPr>
          <a:xfrm>
            <a:off x="2854325" y="4374515"/>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p>
            <a:pPr algn="ctr">
              <a:defRPr/>
            </a:pPr>
          </a:p>
        </p:txBody>
      </p:sp>
      <p:sp>
        <p:nvSpPr>
          <p:cNvPr id="22" name="AutoShape 10"/>
          <p:cNvSpPr/>
          <p:nvPr/>
        </p:nvSpPr>
        <p:spPr>
          <a:xfrm>
            <a:off x="3358515" y="4209415"/>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0.488MB</a:t>
            </a:r>
            <a:endParaRPr lang="en-US" altLang="zh-CN" sz="1600"/>
          </a:p>
        </p:txBody>
      </p:sp>
      <p:sp>
        <p:nvSpPr>
          <p:cNvPr id="24" name="AutoShape 14"/>
          <p:cNvSpPr/>
          <p:nvPr/>
        </p:nvSpPr>
        <p:spPr>
          <a:xfrm>
            <a:off x="3356610" y="5471160"/>
            <a:ext cx="124523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2018 </a:t>
            </a:r>
            <a:endParaRPr lang="en-US" altLang="zh-CN" sz="1600"/>
          </a:p>
        </p:txBody>
      </p:sp>
      <p:sp>
        <p:nvSpPr>
          <p:cNvPr id="25" name="AutoShape 14"/>
          <p:cNvSpPr/>
          <p:nvPr/>
        </p:nvSpPr>
        <p:spPr>
          <a:xfrm>
            <a:off x="1461770" y="5471160"/>
            <a:ext cx="124460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600"/>
              <a:t>"August 1, 2018"</a:t>
            </a:r>
            <a:endParaRPr lang="en-US" altLang="zh-CN" sz="1600"/>
          </a:p>
        </p:txBody>
      </p:sp>
      <p:sp>
        <p:nvSpPr>
          <p:cNvPr id="29" name="AutoShape 11"/>
          <p:cNvSpPr/>
          <p:nvPr/>
        </p:nvSpPr>
        <p:spPr>
          <a:xfrm>
            <a:off x="2797175" y="5636260"/>
            <a:ext cx="368300" cy="355600"/>
          </a:xfrm>
          <a:prstGeom prst="rightArrow">
            <a:avLst>
              <a:gd name="adj1" fmla="val 50000"/>
              <a:gd name="adj2" fmla="val 50000"/>
            </a:avLst>
          </a:prstGeom>
          <a:solidFill>
            <a:srgbClr val="4472C4">
              <a:alpha val="100000"/>
            </a:srgbClr>
          </a:solidFill>
          <a:ln w="12700" cap="flat" cmpd="sng">
            <a:solidFill>
              <a:srgbClr val="2F528F">
                <a:alpha val="100000"/>
              </a:srgbClr>
            </a:solidFill>
            <a:prstDash val="solid"/>
            <a:miter lim="1000000"/>
          </a:ln>
          <a:effectLst>
            <a:outerShdw blurRad="50800" dist="38100" dir="2700000" algn="tl" rotWithShape="0">
              <a:srgbClr val="000000">
                <a:alpha val="40000"/>
              </a:srgbClr>
            </a:outerShdw>
          </a:effectLst>
        </p:spPr>
        <p:txBody>
          <a:bodyPr vert="horz" wrap="square" lIns="63500" tIns="63500" rIns="63500" bIns="63500" rtlCol="0" anchor="ctr"/>
          <a:p>
            <a:pPr algn="ctr">
              <a:defRPr/>
            </a:pPr>
          </a:p>
        </p:txBody>
      </p:sp>
      <p:sp>
        <p:nvSpPr>
          <p:cNvPr id="33" name="AutoShape 2"/>
          <p:cNvSpPr/>
          <p:nvPr/>
        </p:nvSpPr>
        <p:spPr>
          <a:xfrm>
            <a:off x="292100" y="266700"/>
            <a:ext cx="6490335"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Data Conditioning &amp; Cleaning</a:t>
            </a:r>
            <a:endParaRPr lang="en-US" sz="1100"/>
          </a:p>
        </p:txBody>
      </p:sp>
      <p:sp>
        <p:nvSpPr>
          <p:cNvPr id="36" name="AutoShape 2"/>
          <p:cNvSpPr/>
          <p:nvPr/>
        </p:nvSpPr>
        <p:spPr>
          <a:xfrm>
            <a:off x="3447415" y="952500"/>
            <a:ext cx="16891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1800" b="1" i="0" u="none" strike="noStrike">
                <a:solidFill>
                  <a:srgbClr val="800000"/>
                </a:solidFill>
                <a:latin typeface="Arial" panose="020B0604020202090204"/>
                <a:ea typeface="Arial" panose="020B0604020202090204"/>
                <a:cs typeface="Arial" panose="020B0604020202090204"/>
                <a:sym typeface="Arial" panose="020B0604020202090204"/>
              </a:rPr>
              <a:t>after</a:t>
            </a:r>
            <a:endParaRPr lang="en-US" sz="1800" b="1" i="0" u="none" strike="noStrike">
              <a:solidFill>
                <a:srgbClr val="800000"/>
              </a:solidFill>
              <a:latin typeface="Arial" panose="020B0604020202090204"/>
              <a:ea typeface="Arial" panose="020B0604020202090204"/>
              <a:cs typeface="Arial" panose="020B0604020202090204"/>
              <a:sym typeface="Arial" panose="020B0604020202090204"/>
            </a:endParaRPr>
          </a:p>
        </p:txBody>
      </p:sp>
      <p:sp>
        <p:nvSpPr>
          <p:cNvPr id="39" name="AutoShape 8"/>
          <p:cNvSpPr/>
          <p:nvPr/>
        </p:nvSpPr>
        <p:spPr>
          <a:xfrm>
            <a:off x="7677150" y="3946525"/>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After exact-duplicate removal:</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10357</a:t>
            </a:r>
            <a:endParaRPr lang="en-US" sz="1100"/>
          </a:p>
        </p:txBody>
      </p:sp>
      <p:sp>
        <p:nvSpPr>
          <p:cNvPr id="40" name="AutoShape 8"/>
          <p:cNvSpPr/>
          <p:nvPr/>
        </p:nvSpPr>
        <p:spPr>
          <a:xfrm>
            <a:off x="7677150" y="2780665"/>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After malformed-row removal:</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10840</a:t>
            </a:r>
            <a:endParaRPr lang="en-US" sz="1100"/>
          </a:p>
        </p:txBody>
      </p:sp>
      <p:sp>
        <p:nvSpPr>
          <p:cNvPr id="41" name="AutoShape 8"/>
          <p:cNvSpPr/>
          <p:nvPr/>
        </p:nvSpPr>
        <p:spPr>
          <a:xfrm>
            <a:off x="7677785" y="1602105"/>
            <a:ext cx="2542540"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Raw dataset:</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10841</a:t>
            </a:r>
            <a:endParaRPr lang="en-US" sz="1100"/>
          </a:p>
        </p:txBody>
      </p:sp>
      <p:sp>
        <p:nvSpPr>
          <p:cNvPr id="42" name="AutoShape 8"/>
          <p:cNvSpPr/>
          <p:nvPr/>
        </p:nvSpPr>
        <p:spPr>
          <a:xfrm>
            <a:off x="7677785" y="5112385"/>
            <a:ext cx="2543175" cy="685800"/>
          </a:xfrm>
          <a:prstGeom prst="roundRect">
            <a:avLst>
              <a:gd name="adj" fmla="val 0"/>
            </a:avLst>
          </a:prstGeom>
          <a:solidFill>
            <a:srgbClr val="FFD966">
              <a:alpha val="100000"/>
            </a:srgbClr>
          </a:solidFill>
          <a:ln w="12700" cap="flat" cmpd="sng">
            <a:solidFill>
              <a:srgbClr val="000000">
                <a:alpha val="100000"/>
              </a:srgbClr>
            </a:solidFill>
            <a:prstDash val="solid"/>
            <a:miter lim="1000000"/>
          </a:ln>
          <a:effectLst>
            <a:outerShdw blurRad="50800" dist="38100" dir="2700000" algn="tl" rotWithShape="0">
              <a:srgbClr val="000000">
                <a:alpha val="40000"/>
              </a:srgbClr>
            </a:outerShdw>
          </a:effectLst>
        </p:spPr>
        <p:txBody>
          <a:bodyPr vert="horz" wrap="square" lIns="88900" tIns="50800" rIns="88900" bIns="50800" rtlCol="0" anchor="ctr" anchorCtr="0"/>
          <a:p>
            <a:pPr marL="0" indent="0" algn="ctr">
              <a:lnSpc>
                <a:spcPct val="100000"/>
              </a:lnSpc>
              <a:defRPr/>
            </a:pPr>
            <a:r>
              <a:rPr lang="en-US" altLang="zh-CN" sz="1400" b="1" i="0" u="none" strike="noStrike">
                <a:solidFill>
                  <a:srgbClr val="000000"/>
                </a:solidFill>
                <a:latin typeface="Arial" panose="020B0604020202090204"/>
                <a:ea typeface="Arial" panose="020B0604020202090204"/>
                <a:cs typeface="Arial" panose="020B0604020202090204"/>
                <a:sym typeface="Arial" panose="020B0604020202090204"/>
              </a:rPr>
              <a:t>Observed Rating for modelling:</a:t>
            </a:r>
            <a:r>
              <a:rPr lang="en-US" sz="1400" b="1" i="0" u="none" strike="noStrike">
                <a:solidFill>
                  <a:srgbClr val="000000"/>
                </a:solidFill>
                <a:latin typeface="Arial" panose="020B0604020202090204"/>
                <a:ea typeface="Arial" panose="020B0604020202090204"/>
                <a:cs typeface="Arial" panose="020B0604020202090204"/>
                <a:sym typeface="Arial" panose="020B0604020202090204"/>
              </a:rPr>
              <a:t> 8892</a:t>
            </a:r>
            <a:endParaRPr lang="en-US" sz="1100"/>
          </a:p>
        </p:txBody>
      </p:sp>
      <p:sp>
        <p:nvSpPr>
          <p:cNvPr id="43" name="AutoShape 2"/>
          <p:cNvSpPr/>
          <p:nvPr/>
        </p:nvSpPr>
        <p:spPr>
          <a:xfrm>
            <a:off x="7677785" y="952500"/>
            <a:ext cx="267589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altLang="zh-CN" sz="1800" b="1" i="0" u="none" strike="noStrike">
                <a:solidFill>
                  <a:srgbClr val="800000"/>
                </a:solidFill>
                <a:latin typeface="Arial" panose="020B0604020202090204"/>
                <a:ea typeface="Arial" panose="020B0604020202090204"/>
                <a:cs typeface="Arial" panose="020B0604020202090204"/>
                <a:sym typeface="Arial" panose="020B0604020202090204"/>
              </a:rPr>
              <a:t>row-count funnel</a:t>
            </a:r>
            <a:endParaRPr lang="en-US" sz="1800" b="1" i="0" u="none" strike="noStrike">
              <a:solidFill>
                <a:srgbClr val="800000"/>
              </a:solidFill>
              <a:latin typeface="Arial" panose="020B0604020202090204"/>
              <a:ea typeface="Arial" panose="020B0604020202090204"/>
              <a:cs typeface="Arial" panose="020B0604020202090204"/>
              <a:sym typeface="Arial" panose="020B0604020202090204"/>
            </a:endParaRPr>
          </a:p>
        </p:txBody>
      </p:sp>
      <p:sp>
        <p:nvSpPr>
          <p:cNvPr id="44" name="AutoShape 2"/>
          <p:cNvSpPr/>
          <p:nvPr/>
        </p:nvSpPr>
        <p:spPr>
          <a:xfrm>
            <a:off x="4603115" y="2449195"/>
            <a:ext cx="3161665" cy="685800"/>
          </a:xfrm>
          <a:prstGeom prst="rect">
            <a:avLst/>
          </a:prstGeom>
          <a:ln>
            <a:solidFill>
              <a:srgbClr val="BDD7EE"/>
            </a:solidFill>
          </a:ln>
        </p:spPr>
        <p:style>
          <a:lnRef idx="2">
            <a:schemeClr val="lt1"/>
          </a:lnRef>
          <a:fillRef idx="1">
            <a:schemeClr val="accent1"/>
          </a:fillRef>
          <a:effectRef idx="1">
            <a:schemeClr val="accent1"/>
          </a:effectRef>
          <a:fontRef idx="minor">
            <a:schemeClr val="lt1"/>
          </a:fontRef>
        </p:style>
        <p:txBody>
          <a:bodyPr vert="horz" wrap="square" lIns="292100" tIns="50800" rIns="88900" bIns="50800" rtlCol="0" anchor="ctr" anchorCtr="0"/>
          <a:p>
            <a:pPr marL="0" indent="0" algn="l">
              <a:lnSpc>
                <a:spcPct val="92000"/>
              </a:lnSpc>
              <a:defRPr/>
            </a:pPr>
            <a:r>
              <a:rPr lang="en-US" altLang="zh-CN">
                <a:solidFill>
                  <a:srgbClr val="800000"/>
                </a:solidFill>
                <a:highlight>
                  <a:srgbClr val="FFFF00"/>
                </a:highlight>
              </a:rPr>
              <a:t>Preserve the business meaning </a:t>
            </a:r>
            <a:endParaRPr lang="en-US" altLang="zh-CN">
              <a:solidFill>
                <a:srgbClr val="800000"/>
              </a:solidFill>
              <a:highlight>
                <a:srgbClr val="FFFF00"/>
              </a:highlight>
            </a:endParaRPr>
          </a:p>
        </p:txBody>
      </p:sp>
      <p:sp>
        <p:nvSpPr>
          <p:cNvPr id="45" name="AutoShape 2"/>
          <p:cNvSpPr/>
          <p:nvPr/>
        </p:nvSpPr>
        <p:spPr>
          <a:xfrm>
            <a:off x="4603115" y="4426585"/>
            <a:ext cx="3161665" cy="685800"/>
          </a:xfrm>
          <a:prstGeom prst="rect">
            <a:avLst/>
          </a:prstGeom>
          <a:ln>
            <a:solidFill>
              <a:srgbClr val="BDD7EE"/>
            </a:solidFill>
          </a:ln>
        </p:spPr>
        <p:style>
          <a:lnRef idx="2">
            <a:schemeClr val="lt1"/>
          </a:lnRef>
          <a:fillRef idx="1">
            <a:schemeClr val="accent1"/>
          </a:fillRef>
          <a:effectRef idx="1">
            <a:schemeClr val="accent1"/>
          </a:effectRef>
          <a:fontRef idx="minor">
            <a:schemeClr val="lt1"/>
          </a:fontRef>
        </p:style>
        <p:txBody>
          <a:bodyPr vert="horz" wrap="square" lIns="292100" tIns="50800" rIns="88900" bIns="50800" rtlCol="0" anchor="ctr" anchorCtr="0"/>
          <a:p>
            <a:pPr marL="0" indent="0" algn="l">
              <a:lnSpc>
                <a:spcPct val="92000"/>
              </a:lnSpc>
              <a:defRPr/>
            </a:pPr>
            <a:r>
              <a:rPr lang="en-US" altLang="zh-CN">
                <a:solidFill>
                  <a:srgbClr val="800000"/>
                </a:solidFill>
                <a:highlight>
                  <a:srgbClr val="FFFF00"/>
                </a:highlight>
              </a:rPr>
              <a:t>transforming into a form that can be used by both visualizations and models. </a:t>
            </a:r>
            <a:endParaRPr lang="en-US" altLang="zh-CN">
              <a:solidFill>
                <a:srgbClr val="800000"/>
              </a:solidFill>
              <a:highlight>
                <a:srgbClr val="FFFF00"/>
              </a:highlight>
            </a:endParaRPr>
          </a:p>
        </p:txBody>
      </p:sp>
      <p:sp>
        <p:nvSpPr>
          <p:cNvPr id="4"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a:t>
            </a:r>
            <a:r>
              <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HAN</a:t>
            </a:r>
            <a:endPar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33" name="AutoShape 2"/>
          <p:cNvSpPr/>
          <p:nvPr/>
        </p:nvSpPr>
        <p:spPr>
          <a:xfrm>
            <a:off x="292100" y="266700"/>
            <a:ext cx="6490335"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altLang="zh-CN" sz="3200" b="1" i="0" u="none" strike="noStrike">
                <a:solidFill>
                  <a:srgbClr val="800000"/>
                </a:solidFill>
                <a:latin typeface="Arial" panose="020B0604020202090204"/>
                <a:ea typeface="Arial" panose="020B0604020202090204"/>
                <a:cs typeface="Arial" panose="020B0604020202090204"/>
                <a:sym typeface="Arial" panose="020B0604020202090204"/>
              </a:rPr>
              <a:t>Rating distribution</a:t>
            </a:r>
            <a:endParaRPr lang="en-US" sz="1100"/>
          </a:p>
        </p:txBody>
      </p:sp>
      <p:sp>
        <p:nvSpPr>
          <p:cNvPr id="3" name="AutoShape 3"/>
          <p:cNvSpPr/>
          <p:nvPr/>
        </p:nvSpPr>
        <p:spPr>
          <a:xfrm>
            <a:off x="190500" y="787400"/>
            <a:ext cx="11811000" cy="7620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1" i="0" u="none" strike="noStrike">
                <a:solidFill>
                  <a:srgbClr val="0000CC"/>
                </a:solidFill>
                <a:latin typeface="Arial" panose="020B0604020202090204"/>
                <a:ea typeface="Arial" panose="020B0604020202090204"/>
                <a:cs typeface="Arial" panose="020B0604020202090204"/>
                <a:sym typeface="Arial" panose="020B0604020202090204"/>
              </a:rPr>
              <a:t>Core Insight:</a:t>
            </a:r>
            <a: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t> </a:t>
            </a:r>
            <a: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t>App ratings are heavily skewed toward 4-5 stars, creating a data landscape where high-quality apps dominate. This concentration simplifies learning for models targeting high-score regions.</a:t>
            </a:r>
            <a:endParaRPr lang="en-US" sz="1100"/>
          </a:p>
        </p:txBody>
      </p:sp>
      <p:pic>
        <p:nvPicPr>
          <p:cNvPr id="2" name="图片 1" descr="S04_rating_distribution_hist_kde"/>
          <p:cNvPicPr>
            <a:picLocks noChangeAspect="1"/>
          </p:cNvPicPr>
          <p:nvPr/>
        </p:nvPicPr>
        <p:blipFill>
          <a:blip r:embed="rId2"/>
          <a:stretch>
            <a:fillRect/>
          </a:stretch>
        </p:blipFill>
        <p:spPr>
          <a:xfrm>
            <a:off x="292100" y="1453515"/>
            <a:ext cx="5737225" cy="3509645"/>
          </a:xfrm>
          <a:prstGeom prst="rect">
            <a:avLst/>
          </a:prstGeom>
        </p:spPr>
      </p:pic>
      <p:pic>
        <p:nvPicPr>
          <p:cNvPr id="6" name="图片 5" descr="S04_top10_categories_lollipop"/>
          <p:cNvPicPr>
            <a:picLocks noChangeAspect="1"/>
          </p:cNvPicPr>
          <p:nvPr/>
        </p:nvPicPr>
        <p:blipFill>
          <a:blip r:embed="rId3"/>
          <a:stretch>
            <a:fillRect/>
          </a:stretch>
        </p:blipFill>
        <p:spPr>
          <a:xfrm>
            <a:off x="6929755" y="1634490"/>
            <a:ext cx="4398645" cy="2750820"/>
          </a:xfrm>
          <a:prstGeom prst="rect">
            <a:avLst/>
          </a:prstGeom>
        </p:spPr>
      </p:pic>
      <p:pic>
        <p:nvPicPr>
          <p:cNvPr id="7" name="图片 6" descr="S04_type_composition_100pct"/>
          <p:cNvPicPr>
            <a:picLocks noChangeAspect="1"/>
          </p:cNvPicPr>
          <p:nvPr/>
        </p:nvPicPr>
        <p:blipFill>
          <a:blip r:embed="rId4"/>
          <a:stretch>
            <a:fillRect/>
          </a:stretch>
        </p:blipFill>
        <p:spPr>
          <a:xfrm>
            <a:off x="6781800" y="4507865"/>
            <a:ext cx="5073015" cy="1494790"/>
          </a:xfrm>
          <a:prstGeom prst="rect">
            <a:avLst/>
          </a:prstGeom>
        </p:spPr>
      </p:pic>
      <p:sp>
        <p:nvSpPr>
          <p:cNvPr id="8" name="AutoShape 5"/>
          <p:cNvSpPr/>
          <p:nvPr/>
        </p:nvSpPr>
        <p:spPr>
          <a:xfrm>
            <a:off x="798195" y="4927600"/>
            <a:ext cx="2070735" cy="597535"/>
          </a:xfrm>
          <a:prstGeom prst="roundRect">
            <a:avLst>
              <a:gd name="adj" fmla="val 0"/>
            </a:avLst>
          </a:prstGeom>
          <a:solidFill>
            <a:srgbClr val="EBF2FF">
              <a:alpha val="100000"/>
            </a:srgbClr>
          </a:solidFill>
          <a:ln w="12700" cap="flat" cmpd="sng">
            <a:solidFill>
              <a:srgbClr val="4472C4">
                <a:alpha val="100000"/>
              </a:srgbClr>
            </a:solidFill>
            <a:prstDash val="solid"/>
            <a:round/>
          </a:ln>
        </p:spPr>
        <p:txBody>
          <a:bodyPr vert="horz" wrap="square" lIns="127000" tIns="101600" rIns="127000" bIns="101600" rtlCol="0" anchor="ctr" anchorCtr="0"/>
          <a:p>
            <a:pPr marL="0" indent="0" algn="ctr">
              <a:lnSpc>
                <a:spcPct val="125000"/>
              </a:lnSpc>
              <a:defRPr/>
            </a:pPr>
            <a:r>
              <a:rPr lang="en-US" sz="1400" b="1" i="0" u="none" strike="noStrike">
                <a:solidFill>
                  <a:srgbClr val="000080"/>
                </a:solidFill>
                <a:latin typeface="Noto Sans SC"/>
                <a:ea typeface="Noto Sans SC"/>
                <a:cs typeface="Noto Sans SC"/>
                <a:sym typeface="Noto Sans SC"/>
              </a:rPr>
              <a:t>Mean Rating</a:t>
            </a:r>
            <a:endParaRPr lang="en-US" sz="1100"/>
          </a:p>
          <a:p>
            <a:pPr marL="0" indent="0" algn="ctr">
              <a:lnSpc>
                <a:spcPct val="125000"/>
              </a:lnSpc>
            </a:pPr>
            <a:r>
              <a:rPr lang="en-US" sz="2000" b="1" i="0" u="none" strike="noStrike">
                <a:solidFill>
                  <a:srgbClr val="000000"/>
                </a:solidFill>
                <a:latin typeface="Noto Sans SC"/>
                <a:ea typeface="Noto Sans SC"/>
                <a:cs typeface="Noto Sans SC"/>
                <a:sym typeface="Noto Sans SC"/>
              </a:rPr>
              <a:t>4.188</a:t>
            </a:r>
            <a:r>
              <a:rPr lang="en-US" sz="1600" b="0" i="0" u="none" strike="noStrike">
                <a:solidFill>
                  <a:srgbClr val="1F2329"/>
                </a:solidFill>
                <a:latin typeface="Noto Sans SC"/>
                <a:ea typeface="Noto Sans SC"/>
                <a:cs typeface="Noto Sans SC"/>
                <a:sym typeface="Noto Sans SC"/>
              </a:rPr>
              <a:t> </a:t>
            </a:r>
            <a:endParaRPr lang="en-US" sz="1200" b="0" i="0" u="none" strike="noStrike">
              <a:solidFill>
                <a:srgbClr val="505050"/>
              </a:solidFill>
              <a:latin typeface="Noto Sans SC"/>
              <a:ea typeface="Noto Sans SC"/>
              <a:cs typeface="Noto Sans SC"/>
              <a:sym typeface="Noto Sans SC"/>
            </a:endParaRPr>
          </a:p>
        </p:txBody>
      </p:sp>
      <p:sp>
        <p:nvSpPr>
          <p:cNvPr id="9" name="AutoShape 6"/>
          <p:cNvSpPr/>
          <p:nvPr/>
        </p:nvSpPr>
        <p:spPr>
          <a:xfrm>
            <a:off x="3789680" y="4928235"/>
            <a:ext cx="2071370" cy="596900"/>
          </a:xfrm>
          <a:prstGeom prst="roundRect">
            <a:avLst>
              <a:gd name="adj" fmla="val 0"/>
            </a:avLst>
          </a:prstGeom>
          <a:solidFill>
            <a:srgbClr val="EBF2FF">
              <a:alpha val="100000"/>
            </a:srgbClr>
          </a:solidFill>
          <a:ln w="12700" cap="flat" cmpd="sng">
            <a:solidFill>
              <a:srgbClr val="4472C4">
                <a:alpha val="100000"/>
              </a:srgbClr>
            </a:solidFill>
            <a:prstDash val="solid"/>
            <a:round/>
          </a:ln>
        </p:spPr>
        <p:txBody>
          <a:bodyPr vert="horz" wrap="square" lIns="127000" tIns="101600" rIns="127000" bIns="101600" rtlCol="0" anchor="ctr" anchorCtr="0"/>
          <a:p>
            <a:pPr marL="0" indent="0" algn="ctr">
              <a:lnSpc>
                <a:spcPct val="125000"/>
              </a:lnSpc>
              <a:defRPr/>
            </a:pPr>
            <a:r>
              <a:rPr lang="en-US" sz="1400" b="1" i="0" u="none" strike="noStrike">
                <a:solidFill>
                  <a:srgbClr val="000080"/>
                </a:solidFill>
                <a:latin typeface="Noto Sans SC"/>
                <a:ea typeface="Noto Sans SC"/>
                <a:cs typeface="Noto Sans SC"/>
                <a:sym typeface="Noto Sans SC"/>
              </a:rPr>
              <a:t>Median Rating</a:t>
            </a:r>
            <a:endParaRPr lang="en-US" sz="1100"/>
          </a:p>
          <a:p>
            <a:pPr marL="0" indent="0" algn="ctr">
              <a:lnSpc>
                <a:spcPct val="125000"/>
              </a:lnSpc>
            </a:pPr>
            <a:r>
              <a:rPr lang="en-US" sz="2000" b="1" i="0" u="none" strike="noStrike">
                <a:solidFill>
                  <a:srgbClr val="000000"/>
                </a:solidFill>
                <a:latin typeface="Noto Sans SC"/>
                <a:ea typeface="Noto Sans SC"/>
                <a:cs typeface="Noto Sans SC"/>
                <a:sym typeface="Noto Sans SC"/>
              </a:rPr>
              <a:t>4.30</a:t>
            </a:r>
            <a:r>
              <a:rPr lang="en-US" sz="1600" b="0" i="0" u="none" strike="noStrike">
                <a:solidFill>
                  <a:srgbClr val="1F2329"/>
                </a:solidFill>
                <a:latin typeface="Noto Sans SC"/>
                <a:ea typeface="Noto Sans SC"/>
                <a:cs typeface="Noto Sans SC"/>
                <a:sym typeface="Noto Sans SC"/>
              </a:rPr>
              <a:t> </a:t>
            </a:r>
            <a:endParaRPr lang="en-US" sz="1200" b="0" i="0" u="none" strike="noStrike">
              <a:solidFill>
                <a:srgbClr val="505050"/>
              </a:solidFill>
              <a:latin typeface="Noto Sans SC"/>
              <a:ea typeface="Noto Sans SC"/>
              <a:cs typeface="Noto Sans SC"/>
              <a:sym typeface="Noto Sans SC"/>
            </a:endParaRPr>
          </a:p>
        </p:txBody>
      </p:sp>
      <p:sp>
        <p:nvSpPr>
          <p:cNvPr id="10" name="AutoShape 6"/>
          <p:cNvSpPr/>
          <p:nvPr/>
        </p:nvSpPr>
        <p:spPr>
          <a:xfrm>
            <a:off x="799465" y="5626100"/>
            <a:ext cx="2070100" cy="596265"/>
          </a:xfrm>
          <a:prstGeom prst="roundRect">
            <a:avLst>
              <a:gd name="adj" fmla="val 0"/>
            </a:avLst>
          </a:prstGeom>
          <a:solidFill>
            <a:srgbClr val="EBF2FF">
              <a:alpha val="100000"/>
            </a:srgbClr>
          </a:solidFill>
          <a:ln w="12700" cap="flat" cmpd="sng">
            <a:solidFill>
              <a:srgbClr val="4472C4">
                <a:alpha val="100000"/>
              </a:srgbClr>
            </a:solidFill>
            <a:prstDash val="solid"/>
            <a:round/>
          </a:ln>
        </p:spPr>
        <p:txBody>
          <a:bodyPr vert="horz" wrap="square" lIns="127000" tIns="101600" rIns="127000" bIns="101600" rtlCol="0" anchor="ctr" anchorCtr="0"/>
          <a:lstStyle/>
          <a:p>
            <a:pPr marL="0" indent="0" algn="ctr">
              <a:lnSpc>
                <a:spcPct val="125000"/>
              </a:lnSpc>
              <a:defRPr/>
            </a:pPr>
            <a:r>
              <a:rPr lang="en-US" b="1">
                <a:solidFill>
                  <a:srgbClr val="000080"/>
                </a:solidFill>
                <a:latin typeface="Noto Sans SC"/>
                <a:ea typeface="Noto Sans SC"/>
                <a:cs typeface="Noto Sans SC"/>
                <a:sym typeface="Noto Sans SC"/>
              </a:rPr>
              <a:t>Apps ≥ 4.0 Stars</a:t>
            </a:r>
            <a:endParaRPr lang="en-US"/>
          </a:p>
          <a:p>
            <a:pPr marL="0" indent="0" algn="ctr">
              <a:lnSpc>
                <a:spcPct val="125000"/>
              </a:lnSpc>
            </a:pPr>
            <a:r>
              <a:rPr lang="en-US" b="1">
                <a:latin typeface="Noto Sans SC"/>
                <a:ea typeface="Noto Sans SC"/>
                <a:cs typeface="Noto Sans SC"/>
                <a:sym typeface="Noto Sans SC"/>
              </a:rPr>
              <a:t>78.1%</a:t>
            </a:r>
            <a:r>
              <a:rPr lang="en-US">
                <a:solidFill>
                  <a:srgbClr val="1F2329"/>
                </a:solidFill>
                <a:latin typeface="Noto Sans SC"/>
                <a:ea typeface="Noto Sans SC"/>
                <a:cs typeface="Noto Sans SC"/>
                <a:sym typeface="Noto Sans SC"/>
              </a:rPr>
              <a:t> </a:t>
            </a:r>
            <a:endParaRPr lang="en-US" sz="1200" b="0" i="0" u="none" strike="noStrike">
              <a:solidFill>
                <a:srgbClr val="505050"/>
              </a:solidFill>
              <a:latin typeface="Noto Sans SC"/>
              <a:ea typeface="Noto Sans SC"/>
              <a:cs typeface="Noto Sans SC"/>
              <a:sym typeface="Noto Sans SC"/>
            </a:endParaRPr>
          </a:p>
        </p:txBody>
      </p:sp>
      <p:sp>
        <p:nvSpPr>
          <p:cNvPr id="11" name="AutoShape 8"/>
          <p:cNvSpPr/>
          <p:nvPr/>
        </p:nvSpPr>
        <p:spPr>
          <a:xfrm>
            <a:off x="3789680" y="5626100"/>
            <a:ext cx="2072005" cy="596265"/>
          </a:xfrm>
          <a:prstGeom prst="roundRect">
            <a:avLst>
              <a:gd name="adj" fmla="val 0"/>
            </a:avLst>
          </a:prstGeom>
          <a:solidFill>
            <a:srgbClr val="EBF2FF">
              <a:alpha val="100000"/>
            </a:srgbClr>
          </a:solidFill>
          <a:ln w="12700" cap="flat" cmpd="sng">
            <a:solidFill>
              <a:srgbClr val="4472C4">
                <a:alpha val="100000"/>
              </a:srgbClr>
            </a:solidFill>
            <a:prstDash val="solid"/>
            <a:round/>
          </a:ln>
        </p:spPr>
        <p:txBody>
          <a:bodyPr vert="horz" wrap="square" lIns="127000" tIns="101600" rIns="127000" bIns="101600" rtlCol="0" anchor="ctr" anchorCtr="0"/>
          <a:p>
            <a:pPr marL="0" indent="0" algn="ctr">
              <a:lnSpc>
                <a:spcPct val="125000"/>
              </a:lnSpc>
              <a:defRPr/>
            </a:pPr>
            <a:r>
              <a:rPr lang="en-US" sz="1400" b="1" i="0" u="none" strike="noStrike">
                <a:solidFill>
                  <a:srgbClr val="000080"/>
                </a:solidFill>
                <a:latin typeface="Noto Sans SC"/>
                <a:ea typeface="Noto Sans SC"/>
                <a:cs typeface="Noto Sans SC"/>
                <a:sym typeface="Noto Sans SC"/>
              </a:rPr>
              <a:t>Apps ≥ 4.5 Stars</a:t>
            </a:r>
            <a:endParaRPr lang="en-US" sz="1100"/>
          </a:p>
          <a:p>
            <a:pPr marL="0" indent="0" algn="ctr">
              <a:lnSpc>
                <a:spcPct val="125000"/>
              </a:lnSpc>
            </a:pPr>
            <a:r>
              <a:rPr lang="en-US" sz="2000" b="1" i="0" u="none" strike="noStrike">
                <a:solidFill>
                  <a:srgbClr val="000000"/>
                </a:solidFill>
                <a:latin typeface="Noto Sans SC"/>
                <a:ea typeface="Noto Sans SC"/>
                <a:cs typeface="Noto Sans SC"/>
                <a:sym typeface="Noto Sans SC"/>
              </a:rPr>
              <a:t>31.7%</a:t>
            </a:r>
            <a:endParaRPr lang="en-US" sz="1200" b="0" i="0" u="none" strike="noStrike">
              <a:solidFill>
                <a:srgbClr val="505050"/>
              </a:solidFill>
              <a:latin typeface="Noto Sans SC"/>
              <a:ea typeface="Noto Sans SC"/>
              <a:cs typeface="Noto Sans SC"/>
              <a:sym typeface="Noto Sans SC"/>
            </a:endParaRPr>
          </a:p>
        </p:txBody>
      </p:sp>
      <p:sp>
        <p:nvSpPr>
          <p:cNvPr id="4"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a:t>
            </a:r>
            <a:r>
              <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HAN</a:t>
            </a:r>
            <a:endPar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pic>
        <p:nvPicPr>
          <p:cNvPr id="3" name="图片 2" descr="S05_rating_by_type_violin_box"/>
          <p:cNvPicPr>
            <a:picLocks noChangeAspect="1"/>
          </p:cNvPicPr>
          <p:nvPr/>
        </p:nvPicPr>
        <p:blipFill>
          <a:blip r:embed="rId2"/>
          <a:stretch>
            <a:fillRect/>
          </a:stretch>
        </p:blipFill>
        <p:spPr>
          <a:xfrm>
            <a:off x="640715" y="1279525"/>
            <a:ext cx="5042535" cy="3764915"/>
          </a:xfrm>
          <a:prstGeom prst="rect">
            <a:avLst/>
          </a:prstGeom>
        </p:spPr>
      </p:pic>
      <p:pic>
        <p:nvPicPr>
          <p:cNvPr id="4" name="图片 3" descr="S05_rating_by_top10_category_box"/>
          <p:cNvPicPr>
            <a:picLocks noChangeAspect="1"/>
          </p:cNvPicPr>
          <p:nvPr/>
        </p:nvPicPr>
        <p:blipFill>
          <a:blip r:embed="rId3"/>
          <a:stretch>
            <a:fillRect/>
          </a:stretch>
        </p:blipFill>
        <p:spPr>
          <a:xfrm>
            <a:off x="6445250" y="1404620"/>
            <a:ext cx="4718050" cy="3296920"/>
          </a:xfrm>
          <a:prstGeom prst="rect">
            <a:avLst/>
          </a:prstGeom>
        </p:spPr>
      </p:pic>
      <p:sp>
        <p:nvSpPr>
          <p:cNvPr id="5" name="AutoShape 2"/>
          <p:cNvSpPr/>
          <p:nvPr/>
        </p:nvSpPr>
        <p:spPr>
          <a:xfrm>
            <a:off x="0" y="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Rating Distribution by Type and Category</a:t>
            </a:r>
            <a:endParaRPr lang="en-US" sz="1100"/>
          </a:p>
        </p:txBody>
      </p:sp>
      <p:sp>
        <p:nvSpPr>
          <p:cNvPr id="6" name="AutoShape 3"/>
          <p:cNvSpPr/>
          <p:nvPr/>
        </p:nvSpPr>
        <p:spPr>
          <a:xfrm>
            <a:off x="190500" y="596900"/>
            <a:ext cx="11811000" cy="5715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1" i="0" u="none" strike="noStrike">
                <a:solidFill>
                  <a:srgbClr val="0000CC"/>
                </a:solidFill>
                <a:latin typeface="Arial" panose="020B0604020202090204"/>
                <a:ea typeface="Arial" panose="020B0604020202090204"/>
                <a:cs typeface="Arial" panose="020B0604020202090204"/>
                <a:sym typeface="Arial" panose="020B0604020202090204"/>
              </a:rPr>
              <a:t>Key Insight:</a:t>
            </a:r>
            <a:r>
              <a:rPr lang="en-US" sz="1600" b="0" i="0" u="none" strike="noStrike">
                <a:solidFill>
                  <a:srgbClr val="1F2329"/>
                </a:solidFill>
                <a:latin typeface="Noto Sans SC"/>
                <a:ea typeface="Noto Sans SC"/>
                <a:cs typeface="Noto Sans SC"/>
                <a:sym typeface="Noto Sans SC"/>
              </a:rPr>
              <a:t> </a:t>
            </a:r>
            <a: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t>While Paid apps show marginally higher average ratings than Free apps, the variation within each group (Free/Paid or across Categories) far outweighs the differences between group averages.</a:t>
            </a:r>
            <a:endParaRPr lang="en-US" sz="1100"/>
          </a:p>
        </p:txBody>
      </p:sp>
      <p:sp>
        <p:nvSpPr>
          <p:cNvPr id="7" name="AutoShape 6"/>
          <p:cNvSpPr/>
          <p:nvPr/>
        </p:nvSpPr>
        <p:spPr>
          <a:xfrm>
            <a:off x="190500" y="5155565"/>
            <a:ext cx="2781300" cy="914400"/>
          </a:xfrm>
          <a:prstGeom prst="roundRect">
            <a:avLst>
              <a:gd name="adj" fmla="val 0"/>
            </a:avLst>
          </a:prstGeom>
          <a:solidFill>
            <a:srgbClr val="EBF5FF">
              <a:alpha val="90000"/>
            </a:srgbClr>
          </a:solidFill>
          <a:ln w="12700" cap="flat" cmpd="sng">
            <a:solidFill>
              <a:srgbClr val="4472C4">
                <a:alpha val="100000"/>
              </a:srgbClr>
            </a:solidFill>
            <a:prstDash val="solid"/>
            <a:round/>
          </a:ln>
        </p:spPr>
        <p:txBody>
          <a:bodyPr vert="horz" wrap="square" lIns="152400" tIns="101600" rIns="152400" bIns="101600" rtlCol="0" anchor="ctr" anchorCtr="0"/>
          <a:p>
            <a:pPr marL="0" indent="0" algn="ctr">
              <a:lnSpc>
                <a:spcPct val="125000"/>
              </a:lnSpc>
              <a:defRPr/>
            </a:pPr>
            <a:endParaRPr lang="en-US" sz="1600" b="1" i="0" u="none" strike="noStrike">
              <a:solidFill>
                <a:srgbClr val="0000CC"/>
              </a:solidFill>
              <a:latin typeface="Arial" panose="020B0604020202090204"/>
              <a:ea typeface="Arial" panose="020B0604020202090204"/>
              <a:cs typeface="Arial" panose="020B0604020202090204"/>
              <a:sym typeface="Arial" panose="020B0604020202090204"/>
            </a:endParaRPr>
          </a:p>
          <a:p>
            <a:pPr marL="0" indent="0" algn="ctr">
              <a:lnSpc>
                <a:spcPct val="125000"/>
              </a:lnSpc>
              <a:defRPr/>
            </a:pPr>
            <a:endParaRPr lang="en-US" sz="1600" b="1" i="0" u="none" strike="noStrike">
              <a:solidFill>
                <a:srgbClr val="0000CC"/>
              </a:solidFill>
              <a:latin typeface="Arial" panose="020B0604020202090204"/>
              <a:ea typeface="Arial" panose="020B0604020202090204"/>
              <a:cs typeface="Arial" panose="020B0604020202090204"/>
              <a:sym typeface="Arial" panose="020B0604020202090204"/>
            </a:endParaRPr>
          </a:p>
          <a:p>
            <a:pPr marL="0" indent="0" algn="ctr">
              <a:lnSpc>
                <a:spcPct val="125000"/>
              </a:lnSpc>
              <a:defRPr/>
            </a:pPr>
            <a:r>
              <a:rPr lang="en-US" sz="1600" b="1" i="0" u="none" strike="noStrike">
                <a:solidFill>
                  <a:srgbClr val="0000CC"/>
                </a:solidFill>
                <a:latin typeface="Arial" panose="020B0604020202090204"/>
                <a:ea typeface="Arial" panose="020B0604020202090204"/>
                <a:cs typeface="Arial" panose="020B0604020202090204"/>
                <a:sym typeface="Arial" panose="020B0604020202090204"/>
              </a:rPr>
              <a:t>Free Apps (Sample: 8,279)</a:t>
            </a:r>
            <a:endParaRPr lang="en-US" sz="1100"/>
          </a:p>
          <a:p>
            <a:pPr marL="0" indent="0" algn="ctr">
              <a:lnSpc>
                <a:spcPct val="125000"/>
              </a:lnSpc>
            </a:pPr>
            <a:r>
              <a:rPr lang="en-US" sz="1600" b="1" i="0" u="none" strike="noStrike">
                <a:solidFill>
                  <a:srgbClr val="1F2329"/>
                </a:solidFill>
                <a:latin typeface="Arial" panose="020B0604020202090204"/>
                <a:ea typeface="Arial" panose="020B0604020202090204"/>
                <a:cs typeface="Arial" panose="020B0604020202090204"/>
                <a:sym typeface="Arial" panose="020B0604020202090204"/>
              </a:rPr>
              <a:t>Mean = 4.182</a:t>
            </a:r>
            <a:endParaRPr lang="en-US" sz="16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r>
              <a:rPr lang="en-US" sz="1600" b="1">
                <a:solidFill>
                  <a:srgbClr val="1F2329"/>
                </a:solidFill>
                <a:sym typeface="Arial" panose="020B0604020202090204"/>
              </a:rPr>
              <a:t>Me</a:t>
            </a:r>
            <a:r>
              <a:rPr lang="en-US" sz="1600" b="1">
                <a:solidFill>
                  <a:srgbClr val="1F2329"/>
                </a:solidFill>
                <a:sym typeface="Arial" panose="020B0604020202090204"/>
              </a:rPr>
              <a:t>dain = 4.3</a:t>
            </a:r>
            <a:endParaRPr lang="en-US" sz="16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endParaRPr lang="en-US" sz="16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endParaRPr lang="en-US" sz="1600" b="0" i="0" u="none" strike="noStrike">
              <a:solidFill>
                <a:srgbClr val="505050"/>
              </a:solidFill>
              <a:latin typeface="Arial" panose="020B0604020202090204"/>
              <a:ea typeface="Arial" panose="020B0604020202090204"/>
              <a:cs typeface="Arial" panose="020B0604020202090204"/>
              <a:sym typeface="Arial" panose="020B0604020202090204"/>
            </a:endParaRPr>
          </a:p>
        </p:txBody>
      </p:sp>
      <p:pic>
        <p:nvPicPr>
          <p:cNvPr id="8" name="图片 7" descr="箭头-直角-左下"/>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5540000">
            <a:off x="4597400" y="4498340"/>
            <a:ext cx="698500" cy="698500"/>
          </a:xfrm>
          <a:prstGeom prst="rect">
            <a:avLst/>
          </a:prstGeom>
        </p:spPr>
      </p:pic>
      <p:sp>
        <p:nvSpPr>
          <p:cNvPr id="9" name="AutoShape 7"/>
          <p:cNvSpPr/>
          <p:nvPr/>
        </p:nvSpPr>
        <p:spPr>
          <a:xfrm>
            <a:off x="4991100" y="5130800"/>
            <a:ext cx="2781300" cy="913765"/>
          </a:xfrm>
          <a:prstGeom prst="roundRect">
            <a:avLst>
              <a:gd name="adj" fmla="val 0"/>
            </a:avLst>
          </a:prstGeom>
          <a:solidFill>
            <a:srgbClr val="FFF8E1">
              <a:alpha val="90000"/>
            </a:srgbClr>
          </a:solidFill>
          <a:ln w="12700" cap="flat" cmpd="sng">
            <a:solidFill>
              <a:srgbClr val="D97706">
                <a:alpha val="100000"/>
              </a:srgbClr>
            </a:solidFill>
            <a:prstDash val="solid"/>
            <a:round/>
          </a:ln>
        </p:spPr>
        <p:txBody>
          <a:bodyPr vert="horz" wrap="square" lIns="152400" tIns="101600" rIns="152400" bIns="101600" rtlCol="0" anchor="ctr" anchorCtr="0"/>
          <a:p>
            <a:pPr marL="0" indent="0" algn="ctr">
              <a:lnSpc>
                <a:spcPct val="125000"/>
              </a:lnSpc>
              <a:defRPr/>
            </a:pPr>
            <a:endParaRPr lang="en-US" sz="1600" b="1" i="0" u="none" strike="noStrike">
              <a:solidFill>
                <a:srgbClr val="B45309"/>
              </a:solidFill>
              <a:latin typeface="Arial" panose="020B0604020202090204"/>
              <a:ea typeface="Arial" panose="020B0604020202090204"/>
              <a:cs typeface="Arial" panose="020B0604020202090204"/>
              <a:sym typeface="Arial" panose="020B0604020202090204"/>
            </a:endParaRPr>
          </a:p>
          <a:p>
            <a:pPr marL="0" indent="0" algn="ctr">
              <a:lnSpc>
                <a:spcPct val="125000"/>
              </a:lnSpc>
              <a:defRPr/>
            </a:pPr>
            <a:endParaRPr lang="en-US" sz="1600" b="1" i="0" u="none" strike="noStrike">
              <a:solidFill>
                <a:srgbClr val="B45309"/>
              </a:solidFill>
              <a:latin typeface="Arial" panose="020B0604020202090204"/>
              <a:ea typeface="Arial" panose="020B0604020202090204"/>
              <a:cs typeface="Arial" panose="020B0604020202090204"/>
              <a:sym typeface="Arial" panose="020B0604020202090204"/>
            </a:endParaRPr>
          </a:p>
          <a:p>
            <a:pPr marL="0" indent="0" algn="ctr">
              <a:lnSpc>
                <a:spcPct val="125000"/>
              </a:lnSpc>
              <a:defRPr/>
            </a:pPr>
            <a:r>
              <a:rPr lang="en-US" sz="1600" b="1" i="0" u="none" strike="noStrike">
                <a:solidFill>
                  <a:srgbClr val="B45309"/>
                </a:solidFill>
                <a:latin typeface="Arial" panose="020B0604020202090204"/>
                <a:ea typeface="Arial" panose="020B0604020202090204"/>
                <a:cs typeface="Arial" panose="020B0604020202090204"/>
                <a:sym typeface="Arial" panose="020B0604020202090204"/>
              </a:rPr>
              <a:t>Paid Apps (Sample: 613)</a:t>
            </a:r>
            <a:endParaRPr lang="en-US" sz="1100"/>
          </a:p>
          <a:p>
            <a:pPr marL="0" indent="0" algn="ctr">
              <a:lnSpc>
                <a:spcPct val="125000"/>
              </a:lnSpc>
            </a:pPr>
            <a:r>
              <a:rPr lang="en-US" sz="1600" b="1">
                <a:solidFill>
                  <a:srgbClr val="1F2329"/>
                </a:solidFill>
                <a:sym typeface="Arial" panose="020B0604020202090204"/>
              </a:rPr>
              <a:t>Mean = 4.262</a:t>
            </a:r>
            <a:endParaRPr lang="en-US" sz="16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r>
              <a:rPr lang="en-US" sz="1600" b="1">
                <a:solidFill>
                  <a:srgbClr val="1F2329"/>
                </a:solidFill>
                <a:sym typeface="Arial" panose="020B0604020202090204"/>
              </a:rPr>
              <a:t>Medain = 4.4</a:t>
            </a:r>
            <a:endParaRPr lang="en-US" sz="16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endParaRPr lang="en-US" sz="2200" b="1"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25000"/>
              </a:lnSpc>
            </a:pPr>
            <a:endParaRPr lang="en-US" sz="1300" b="0" i="0" u="none" strike="noStrike">
              <a:solidFill>
                <a:srgbClr val="505050"/>
              </a:solidFill>
              <a:latin typeface="Arial" panose="020B0604020202090204"/>
              <a:ea typeface="Arial" panose="020B0604020202090204"/>
              <a:cs typeface="Arial" panose="020B0604020202090204"/>
              <a:sym typeface="Arial" panose="020B0604020202090204"/>
            </a:endParaRPr>
          </a:p>
        </p:txBody>
      </p:sp>
      <p:pic>
        <p:nvPicPr>
          <p:cNvPr id="10" name="图片 9" descr="箭头-直角-左下"/>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1300000">
            <a:off x="1447800" y="4529455"/>
            <a:ext cx="698500" cy="698500"/>
          </a:xfrm>
          <a:prstGeom prst="rect">
            <a:avLst/>
          </a:prstGeom>
        </p:spPr>
      </p:pic>
      <p:sp>
        <p:nvSpPr>
          <p:cNvPr id="2"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a:t>
            </a:r>
            <a:r>
              <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HAN</a:t>
            </a:r>
            <a:endParaRPr kumimoji="0" lang="en-US" altLang="en-GB"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3" name="AutoShape 2"/>
          <p:cNvSpPr/>
          <p:nvPr/>
        </p:nvSpPr>
        <p:spPr>
          <a:xfrm>
            <a:off x="0" y="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125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Multivariate Correlation Analysis</a:t>
            </a:r>
            <a:endParaRPr lang="en-US" sz="1100"/>
          </a:p>
        </p:txBody>
      </p:sp>
      <p:sp>
        <p:nvSpPr>
          <p:cNvPr id="4" name="AutoShape 3"/>
          <p:cNvSpPr/>
          <p:nvPr/>
        </p:nvSpPr>
        <p:spPr>
          <a:xfrm>
            <a:off x="190500" y="685800"/>
            <a:ext cx="11811000" cy="7620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1" i="0" u="none" strike="noStrike">
                <a:solidFill>
                  <a:srgbClr val="0000CC"/>
                </a:solidFill>
                <a:latin typeface="Arial" panose="020B0604020202090204"/>
                <a:ea typeface="Arial" panose="020B0604020202090204"/>
                <a:cs typeface="Arial" panose="020B0604020202090204"/>
                <a:sym typeface="Arial" panose="020B0604020202090204"/>
              </a:rPr>
              <a:t>Key Insight:</a:t>
            </a:r>
            <a: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t> </a:t>
            </a:r>
            <a:r>
              <a:rPr lang="en-US" sz="1600" b="0" i="0" u="none" strike="noStrike">
                <a:solidFill>
                  <a:srgbClr val="323232"/>
                </a:solidFill>
                <a:latin typeface="Arial" panose="020B0604020202090204"/>
                <a:ea typeface="Arial" panose="020B0604020202090204"/>
                <a:cs typeface="Arial" panose="020B0604020202090204"/>
                <a:sym typeface="Arial" panose="020B0604020202090204"/>
              </a:rPr>
              <a:t>Univariate relationships between individual features and app ratings are relatively weak (Pearson r &lt; 0.15). The modeling strategy must focus on combining these weak signals to build a robust predictive model.</a:t>
            </a:r>
            <a:endParaRPr lang="en-US" sz="1100"/>
          </a:p>
        </p:txBody>
      </p:sp>
      <p:pic>
        <p:nvPicPr>
          <p:cNvPr id="5" name="图片 4" descr="S06_pearson_heatmap"/>
          <p:cNvPicPr>
            <a:picLocks noChangeAspect="1"/>
          </p:cNvPicPr>
          <p:nvPr/>
        </p:nvPicPr>
        <p:blipFill>
          <a:blip r:embed="rId2"/>
          <a:stretch>
            <a:fillRect/>
          </a:stretch>
        </p:blipFill>
        <p:spPr>
          <a:xfrm>
            <a:off x="4231640" y="1255395"/>
            <a:ext cx="4201160" cy="3122295"/>
          </a:xfrm>
          <a:prstGeom prst="rect">
            <a:avLst/>
          </a:prstGeom>
        </p:spPr>
      </p:pic>
      <p:pic>
        <p:nvPicPr>
          <p:cNvPr id="6" name="图片 5" descr="S06_installs_rating_lowess"/>
          <p:cNvPicPr>
            <a:picLocks noChangeAspect="1"/>
          </p:cNvPicPr>
          <p:nvPr/>
        </p:nvPicPr>
        <p:blipFill>
          <a:blip r:embed="rId3"/>
          <a:stretch>
            <a:fillRect/>
          </a:stretch>
        </p:blipFill>
        <p:spPr>
          <a:xfrm>
            <a:off x="537210" y="3759200"/>
            <a:ext cx="3426460" cy="2372360"/>
          </a:xfrm>
          <a:prstGeom prst="rect">
            <a:avLst/>
          </a:prstGeom>
        </p:spPr>
      </p:pic>
      <p:pic>
        <p:nvPicPr>
          <p:cNvPr id="7" name="图片 6" descr="S06_reviews_rating_lowess"/>
          <p:cNvPicPr>
            <a:picLocks noChangeAspect="1"/>
          </p:cNvPicPr>
          <p:nvPr/>
        </p:nvPicPr>
        <p:blipFill>
          <a:blip r:embed="rId4"/>
          <a:stretch>
            <a:fillRect/>
          </a:stretch>
        </p:blipFill>
        <p:spPr>
          <a:xfrm>
            <a:off x="407035" y="1255395"/>
            <a:ext cx="3556635" cy="2414905"/>
          </a:xfrm>
          <a:prstGeom prst="rect">
            <a:avLst/>
          </a:prstGeom>
        </p:spPr>
      </p:pic>
      <p:sp>
        <p:nvSpPr>
          <p:cNvPr id="9" name="AutoShape 8"/>
          <p:cNvSpPr/>
          <p:nvPr/>
        </p:nvSpPr>
        <p:spPr>
          <a:xfrm>
            <a:off x="8432800" y="1600200"/>
            <a:ext cx="4279900" cy="2159000"/>
          </a:xfrm>
          <a:prstGeom prst="rect">
            <a:avLst/>
          </a:prstGeom>
          <a:noFill/>
          <a:ln w="12700" cap="flat" cmpd="sng">
            <a:noFill/>
            <a:prstDash val="solid"/>
            <a:round/>
          </a:ln>
        </p:spPr>
        <p:txBody>
          <a:bodyPr vert="horz" wrap="square" lIns="127000" tIns="63500" rIns="127000" bIns="63500" rtlCol="0" anchor="ctr" anchorCtr="0"/>
          <a:p>
            <a:pPr marL="0" indent="0" algn="l">
              <a:lnSpc>
                <a:spcPct val="108000"/>
              </a:lnSpc>
              <a:defRPr/>
            </a:pPr>
            <a:r>
              <a:rPr lang="en-US" b="1" i="0" u="none" strike="noStrike">
                <a:solidFill>
                  <a:srgbClr val="800000"/>
                </a:solidFill>
                <a:latin typeface="Noto Sans SC"/>
                <a:ea typeface="Noto Sans SC"/>
                <a:cs typeface="Noto Sans SC"/>
                <a:sym typeface="Noto Sans SC"/>
              </a:rPr>
              <a:t>Correlation Strength with Target (Rating)</a:t>
            </a:r>
            <a:endParaRPr lang="en-US"/>
          </a:p>
          <a:p>
            <a:pPr marL="0" indent="0" algn="l">
              <a:lnSpc>
                <a:spcPct val="108000"/>
              </a:lnSpc>
            </a:pPr>
            <a:endParaRPr lang="en-US" b="1" i="0" u="none" strike="noStrike">
              <a:solidFill>
                <a:srgbClr val="000000"/>
              </a:solidFill>
              <a:latin typeface="Noto Sans SC"/>
              <a:ea typeface="Noto Sans SC"/>
              <a:cs typeface="Noto Sans SC"/>
              <a:sym typeface="Noto Sans SC"/>
            </a:endParaRPr>
          </a:p>
          <a:p>
            <a:pPr marL="0" indent="0" algn="l">
              <a:lnSpc>
                <a:spcPct val="108000"/>
              </a:lnSpc>
            </a:pPr>
            <a:r>
              <a:rPr lang="en-US" b="1" i="0" u="none" strike="noStrike">
                <a:solidFill>
                  <a:srgbClr val="000000"/>
                </a:solidFill>
                <a:latin typeface="Noto Sans SC"/>
                <a:ea typeface="Noto Sans SC"/>
                <a:cs typeface="Noto Sans SC"/>
                <a:sym typeface="Noto Sans SC"/>
              </a:rPr>
              <a:t>Pearson (Linear):</a:t>
            </a:r>
            <a:br>
              <a:rPr lang="en-US" b="0" i="0" u="none" strike="noStrike">
                <a:solidFill>
                  <a:srgbClr val="1F2329"/>
                </a:solidFill>
                <a:latin typeface="Noto Sans SC"/>
                <a:ea typeface="Noto Sans SC"/>
                <a:cs typeface="Noto Sans SC"/>
                <a:sym typeface="Noto Sans SC"/>
              </a:rPr>
            </a:br>
            <a:r>
              <a:rPr lang="en-US" b="0" i="0" u="none" strike="noStrike">
                <a:solidFill>
                  <a:srgbClr val="000000"/>
                </a:solidFill>
                <a:latin typeface="Noto Sans SC"/>
                <a:ea typeface="Noto Sans SC"/>
                <a:cs typeface="Noto Sans SC"/>
                <a:sym typeface="Noto Sans SC"/>
              </a:rPr>
              <a:t>• Updated_Year: 0.137 (Highest)</a:t>
            </a:r>
            <a:br>
              <a:rPr lang="en-US" b="0" i="0" u="none" strike="noStrike">
                <a:solidFill>
                  <a:srgbClr val="1F2329"/>
                </a:solidFill>
                <a:latin typeface="Noto Sans SC"/>
                <a:ea typeface="Noto Sans SC"/>
                <a:cs typeface="Noto Sans SC"/>
                <a:sym typeface="Noto Sans SC"/>
              </a:rPr>
            </a:br>
            <a:r>
              <a:rPr lang="en-US" b="0" i="0" u="none" strike="noStrike">
                <a:solidFill>
                  <a:srgbClr val="000000"/>
                </a:solidFill>
                <a:latin typeface="Noto Sans SC"/>
                <a:ea typeface="Noto Sans SC"/>
                <a:cs typeface="Noto Sans SC"/>
                <a:sym typeface="Noto Sans SC"/>
              </a:rPr>
              <a:t>• Reviews: 0.069 | Installs: 0.051</a:t>
            </a:r>
            <a:endParaRPr lang="en-US" b="0" i="0" u="none" strike="noStrike">
              <a:solidFill>
                <a:srgbClr val="000000"/>
              </a:solidFill>
              <a:latin typeface="Noto Sans SC"/>
              <a:ea typeface="Noto Sans SC"/>
              <a:cs typeface="Noto Sans SC"/>
              <a:sym typeface="Noto Sans SC"/>
            </a:endParaRPr>
          </a:p>
          <a:p>
            <a:pPr marL="0" indent="0" algn="l">
              <a:lnSpc>
                <a:spcPct val="108000"/>
              </a:lnSpc>
            </a:pPr>
            <a:endParaRPr lang="en-US" b="0" i="0" u="none" strike="noStrike">
              <a:solidFill>
                <a:srgbClr val="000000"/>
              </a:solidFill>
              <a:latin typeface="Noto Sans SC"/>
              <a:ea typeface="Noto Sans SC"/>
              <a:cs typeface="Noto Sans SC"/>
              <a:sym typeface="Noto Sans SC"/>
            </a:endParaRPr>
          </a:p>
        </p:txBody>
      </p:sp>
      <p:sp>
        <p:nvSpPr>
          <p:cNvPr id="10" name="AutoShape 9"/>
          <p:cNvSpPr/>
          <p:nvPr/>
        </p:nvSpPr>
        <p:spPr>
          <a:xfrm>
            <a:off x="4064000" y="4483100"/>
            <a:ext cx="8128000" cy="3175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600" b="1" i="0" u="none" strike="noStrike">
                <a:solidFill>
                  <a:srgbClr val="800000"/>
                </a:solidFill>
                <a:latin typeface="Noto Sans SC"/>
                <a:ea typeface="Noto Sans SC"/>
                <a:cs typeface="Noto Sans SC"/>
                <a:sym typeface="Noto Sans SC"/>
              </a:rPr>
              <a:t>Selected Features for Model Training</a:t>
            </a:r>
            <a:endParaRPr lang="en-US" sz="1100"/>
          </a:p>
        </p:txBody>
      </p:sp>
      <p:sp>
        <p:nvSpPr>
          <p:cNvPr id="11" name="AutoShape 10"/>
          <p:cNvSpPr/>
          <p:nvPr/>
        </p:nvSpPr>
        <p:spPr>
          <a:xfrm>
            <a:off x="4064000" y="4927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1. Rating (Target)</a:t>
            </a:r>
            <a:endParaRPr lang="en-US" sz="1100"/>
          </a:p>
        </p:txBody>
      </p:sp>
      <p:sp>
        <p:nvSpPr>
          <p:cNvPr id="12" name="AutoShape 11"/>
          <p:cNvSpPr/>
          <p:nvPr/>
        </p:nvSpPr>
        <p:spPr>
          <a:xfrm>
            <a:off x="6096000" y="4927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2. Reviews Count</a:t>
            </a:r>
            <a:endParaRPr lang="en-US" sz="1100"/>
          </a:p>
        </p:txBody>
      </p:sp>
      <p:sp>
        <p:nvSpPr>
          <p:cNvPr id="13" name="AutoShape 12"/>
          <p:cNvSpPr/>
          <p:nvPr/>
        </p:nvSpPr>
        <p:spPr>
          <a:xfrm>
            <a:off x="8128000" y="4927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3. Installs Volume</a:t>
            </a:r>
            <a:endParaRPr lang="en-US" sz="1100"/>
          </a:p>
        </p:txBody>
      </p:sp>
      <p:sp>
        <p:nvSpPr>
          <p:cNvPr id="14" name="AutoShape 13"/>
          <p:cNvSpPr/>
          <p:nvPr/>
        </p:nvSpPr>
        <p:spPr>
          <a:xfrm>
            <a:off x="10160000" y="4927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4. App Size (MB)</a:t>
            </a:r>
            <a:endParaRPr lang="en-US" sz="1100"/>
          </a:p>
        </p:txBody>
      </p:sp>
      <p:sp>
        <p:nvSpPr>
          <p:cNvPr id="15" name="AutoShape 14"/>
          <p:cNvSpPr/>
          <p:nvPr/>
        </p:nvSpPr>
        <p:spPr>
          <a:xfrm>
            <a:off x="4064000" y="5562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5. Price (USD)</a:t>
            </a:r>
            <a:endParaRPr lang="en-US" sz="1100"/>
          </a:p>
        </p:txBody>
      </p:sp>
      <p:sp>
        <p:nvSpPr>
          <p:cNvPr id="16" name="AutoShape 15"/>
          <p:cNvSpPr/>
          <p:nvPr/>
        </p:nvSpPr>
        <p:spPr>
          <a:xfrm>
            <a:off x="6096000" y="5562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6. Last Updated Year</a:t>
            </a:r>
            <a:endParaRPr lang="en-US" sz="1100"/>
          </a:p>
        </p:txBody>
      </p:sp>
      <p:sp>
        <p:nvSpPr>
          <p:cNvPr id="18" name="AutoShape 16"/>
          <p:cNvSpPr/>
          <p:nvPr/>
        </p:nvSpPr>
        <p:spPr>
          <a:xfrm>
            <a:off x="8128000" y="5562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7. Category</a:t>
            </a:r>
            <a:endParaRPr lang="en-US" sz="1100"/>
          </a:p>
        </p:txBody>
      </p:sp>
      <p:sp>
        <p:nvSpPr>
          <p:cNvPr id="19" name="AutoShape 17"/>
          <p:cNvSpPr/>
          <p:nvPr/>
        </p:nvSpPr>
        <p:spPr>
          <a:xfrm>
            <a:off x="10160000" y="5562600"/>
            <a:ext cx="1968500" cy="482600"/>
          </a:xfrm>
          <a:prstGeom prst="roundRect">
            <a:avLst>
              <a:gd name="adj" fmla="val 0"/>
            </a:avLst>
          </a:prstGeom>
          <a:solidFill>
            <a:srgbClr val="DCE6F5">
              <a:alpha val="100000"/>
            </a:srgbClr>
          </a:solidFill>
          <a:ln w="12700" cap="flat" cmpd="sng">
            <a:solidFill>
              <a:srgbClr val="000080">
                <a:alpha val="30000"/>
              </a:srgbClr>
            </a:solid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8. Type (Free/Paid)</a:t>
            </a:r>
            <a:endParaRPr lang="en-US" sz="1100"/>
          </a:p>
        </p:txBody>
      </p:sp>
      <p:sp>
        <p:nvSpPr>
          <p:cNvPr id="2"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XUANHUI</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pic>
        <p:nvPicPr>
          <p:cNvPr id="2" name="图片 1" descr="S07_installs_log_distribution"/>
          <p:cNvPicPr>
            <a:picLocks noChangeAspect="1"/>
          </p:cNvPicPr>
          <p:nvPr/>
        </p:nvPicPr>
        <p:blipFill>
          <a:blip r:embed="rId2"/>
          <a:stretch>
            <a:fillRect/>
          </a:stretch>
        </p:blipFill>
        <p:spPr>
          <a:xfrm>
            <a:off x="5810885" y="1137285"/>
            <a:ext cx="3801110" cy="2466975"/>
          </a:xfrm>
          <a:prstGeom prst="rect">
            <a:avLst/>
          </a:prstGeom>
        </p:spPr>
      </p:pic>
      <p:pic>
        <p:nvPicPr>
          <p:cNvPr id="3" name="图片 2" descr="S07_installs_raw_distribution"/>
          <p:cNvPicPr>
            <a:picLocks noChangeAspect="1"/>
          </p:cNvPicPr>
          <p:nvPr/>
        </p:nvPicPr>
        <p:blipFill>
          <a:blip r:embed="rId3"/>
          <a:stretch>
            <a:fillRect/>
          </a:stretch>
        </p:blipFill>
        <p:spPr>
          <a:xfrm>
            <a:off x="530225" y="1048385"/>
            <a:ext cx="3706495" cy="2533650"/>
          </a:xfrm>
          <a:prstGeom prst="rect">
            <a:avLst/>
          </a:prstGeom>
        </p:spPr>
      </p:pic>
      <p:pic>
        <p:nvPicPr>
          <p:cNvPr id="4" name="图片 3" descr="S07_reviews_log_distribution"/>
          <p:cNvPicPr>
            <a:picLocks noChangeAspect="1"/>
          </p:cNvPicPr>
          <p:nvPr/>
        </p:nvPicPr>
        <p:blipFill>
          <a:blip r:embed="rId4"/>
          <a:stretch>
            <a:fillRect/>
          </a:stretch>
        </p:blipFill>
        <p:spPr>
          <a:xfrm>
            <a:off x="5810885" y="3582035"/>
            <a:ext cx="3907790" cy="2536190"/>
          </a:xfrm>
          <a:prstGeom prst="rect">
            <a:avLst/>
          </a:prstGeom>
        </p:spPr>
      </p:pic>
      <p:pic>
        <p:nvPicPr>
          <p:cNvPr id="5" name="图片 4" descr="S07_reviews_raw_distribution"/>
          <p:cNvPicPr>
            <a:picLocks noChangeAspect="1"/>
          </p:cNvPicPr>
          <p:nvPr/>
        </p:nvPicPr>
        <p:blipFill>
          <a:blip r:embed="rId5"/>
          <a:stretch>
            <a:fillRect/>
          </a:stretch>
        </p:blipFill>
        <p:spPr>
          <a:xfrm>
            <a:off x="606425" y="3505200"/>
            <a:ext cx="3801110" cy="2657475"/>
          </a:xfrm>
          <a:prstGeom prst="rect">
            <a:avLst/>
          </a:prstGeom>
        </p:spPr>
      </p:pic>
      <p:sp>
        <p:nvSpPr>
          <p:cNvPr id="6" name="AutoShape 2"/>
          <p:cNvSpPr/>
          <p:nvPr/>
        </p:nvSpPr>
        <p:spPr>
          <a:xfrm>
            <a:off x="0" y="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Preprocessing: Log Transformation for Long-Tail Features</a:t>
            </a:r>
            <a:endParaRPr lang="en-US" sz="1100"/>
          </a:p>
        </p:txBody>
      </p:sp>
      <p:sp>
        <p:nvSpPr>
          <p:cNvPr id="7" name="AutoShape 3"/>
          <p:cNvSpPr/>
          <p:nvPr/>
        </p:nvSpPr>
        <p:spPr>
          <a:xfrm>
            <a:off x="190500" y="565785"/>
            <a:ext cx="11811000" cy="5715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0" i="0" u="none" strike="noStrike">
                <a:solidFill>
                  <a:srgbClr val="323232"/>
                </a:solidFill>
                <a:latin typeface="Arial" panose="020B0604020202090204"/>
                <a:ea typeface="Arial" panose="020B0604020202090204"/>
                <a:cs typeface="Arial" panose="020B0604020202090204"/>
                <a:sym typeface="Arial" panose="020B0604020202090204"/>
              </a:rPr>
              <a:t>Log transformation mitigates extreme value bias in skewed datasets (Reviews/Installs), converting long-tailed distributions into symmetric, Gaussian-like forms to boost accuracy for scale-sensitive AI models.</a:t>
            </a:r>
            <a:endParaRPr lang="en-US" sz="1100"/>
          </a:p>
        </p:txBody>
      </p:sp>
      <p:sp>
        <p:nvSpPr>
          <p:cNvPr id="11" name="AutoShape 11"/>
          <p:cNvSpPr/>
          <p:nvPr/>
        </p:nvSpPr>
        <p:spPr>
          <a:xfrm>
            <a:off x="3746500" y="3642995"/>
            <a:ext cx="27305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1F2937"/>
                </a:solidFill>
                <a:latin typeface="Noto Sans SC"/>
                <a:ea typeface="Noto Sans SC"/>
                <a:cs typeface="Noto Sans SC"/>
                <a:sym typeface="Noto Sans SC"/>
              </a:rPr>
              <a:t>      Reviews Skewness</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16.21 (Raw) → </a:t>
            </a:r>
            <a:r>
              <a:rPr lang="en-US" sz="1300" b="1" i="0" u="none" strike="noStrike">
                <a:solidFill>
                  <a:srgbClr val="10B981"/>
                </a:solidFill>
                <a:latin typeface="Noto Sans SC"/>
                <a:ea typeface="Noto Sans SC"/>
                <a:cs typeface="Noto Sans SC"/>
                <a:sym typeface="Noto Sans SC"/>
              </a:rPr>
              <a:t>-0.02 (Log)</a:t>
            </a:r>
            <a:endParaRPr lang="en-US" sz="1300" b="1" i="0" u="none" strike="noStrike">
              <a:solidFill>
                <a:srgbClr val="10B981"/>
              </a:solidFill>
              <a:latin typeface="Noto Sans SC"/>
              <a:ea typeface="Noto Sans SC"/>
              <a:cs typeface="Noto Sans SC"/>
              <a:sym typeface="Noto Sans SC"/>
            </a:endParaRPr>
          </a:p>
        </p:txBody>
      </p:sp>
      <p:sp>
        <p:nvSpPr>
          <p:cNvPr id="12" name="AutoShape 12"/>
          <p:cNvSpPr/>
          <p:nvPr/>
        </p:nvSpPr>
        <p:spPr>
          <a:xfrm>
            <a:off x="3746500" y="1137285"/>
            <a:ext cx="2730500" cy="762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400" b="1" i="0" u="none" strike="noStrike">
                <a:solidFill>
                  <a:srgbClr val="1F2937"/>
                </a:solidFill>
                <a:latin typeface="Noto Sans SC"/>
                <a:ea typeface="Noto Sans SC"/>
                <a:cs typeface="Noto Sans SC"/>
                <a:sym typeface="Noto Sans SC"/>
              </a:rPr>
              <a:t>    Installs Skewness</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9.38 (Raw) → </a:t>
            </a:r>
            <a:r>
              <a:rPr lang="en-US" sz="1300" b="1" i="0" u="none" strike="noStrike">
                <a:solidFill>
                  <a:srgbClr val="10B981"/>
                </a:solidFill>
                <a:latin typeface="Noto Sans SC"/>
                <a:ea typeface="Noto Sans SC"/>
                <a:cs typeface="Noto Sans SC"/>
                <a:sym typeface="Noto Sans SC"/>
              </a:rPr>
              <a:t>-0.28 (Log)</a:t>
            </a:r>
            <a:endParaRPr lang="en-US" sz="1300" b="1" i="0" u="none" strike="noStrike">
              <a:solidFill>
                <a:srgbClr val="10B981"/>
              </a:solidFill>
              <a:latin typeface="Noto Sans SC"/>
              <a:ea typeface="Noto Sans SC"/>
              <a:cs typeface="Noto Sans SC"/>
              <a:sym typeface="Noto Sans SC"/>
            </a:endParaRPr>
          </a:p>
        </p:txBody>
      </p:sp>
      <p:sp>
        <p:nvSpPr>
          <p:cNvPr id="13" name="AutoShape 13"/>
          <p:cNvSpPr/>
          <p:nvPr/>
        </p:nvSpPr>
        <p:spPr>
          <a:xfrm>
            <a:off x="9718675" y="1264920"/>
            <a:ext cx="2282190" cy="4710430"/>
          </a:xfrm>
          <a:prstGeom prst="roundRect">
            <a:avLst>
              <a:gd name="adj" fmla="val 0"/>
            </a:avLst>
          </a:prstGeom>
          <a:solidFill>
            <a:srgbClr val="FFF7ED">
              <a:alpha val="100000"/>
            </a:srgbClr>
          </a:solidFill>
          <a:ln w="12700" cap="flat" cmpd="sng">
            <a:solidFill>
              <a:srgbClr val="F97316">
                <a:alpha val="100000"/>
              </a:srgbClr>
            </a:solidFill>
            <a:prstDash val="solid"/>
            <a:round/>
          </a:ln>
        </p:spPr>
        <p:txBody>
          <a:bodyPr vert="horz" wrap="square" lIns="63500" tIns="63500" rIns="63500" bIns="63500" rtlCol="0" anchor="ctr"/>
          <a:p>
            <a:pPr algn="ctr">
              <a:defRPr/>
            </a:pPr>
          </a:p>
        </p:txBody>
      </p:sp>
      <p:sp>
        <p:nvSpPr>
          <p:cNvPr id="15" name="AutoShape 15"/>
          <p:cNvSpPr/>
          <p:nvPr/>
        </p:nvSpPr>
        <p:spPr>
          <a:xfrm>
            <a:off x="9970770" y="2006600"/>
            <a:ext cx="1778000" cy="1079500"/>
          </a:xfrm>
          <a:prstGeom prst="roundRect">
            <a:avLst>
              <a:gd name="adj" fmla="val 0"/>
            </a:avLst>
          </a:prstGeom>
          <a:solidFill>
            <a:srgbClr val="FFFFFF">
              <a:alpha val="7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Linear Reg</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0.509 → 0.480</a:t>
            </a:r>
            <a:endParaRPr lang="en-US" sz="1200" b="0" i="0" u="none" strike="noStrike">
              <a:solidFill>
                <a:srgbClr val="6B7280"/>
              </a:solidFill>
              <a:latin typeface="Noto Sans SC"/>
              <a:ea typeface="Noto Sans SC"/>
              <a:cs typeface="Noto Sans SC"/>
              <a:sym typeface="Noto Sans SC"/>
            </a:endParaRPr>
          </a:p>
          <a:p>
            <a:pPr marL="0" indent="0" algn="ctr">
              <a:lnSpc>
                <a:spcPct val="125000"/>
              </a:lnSpc>
            </a:pPr>
            <a:r>
              <a:rPr lang="en-US" sz="1200" b="1" i="0" u="none" strike="noStrike">
                <a:solidFill>
                  <a:srgbClr val="DC2626"/>
                </a:solidFill>
                <a:latin typeface="Noto Sans SC"/>
                <a:ea typeface="Noto Sans SC"/>
                <a:cs typeface="Noto Sans SC"/>
                <a:sym typeface="Noto Sans SC"/>
              </a:rPr>
              <a:t>↓ 5.7% Error</a:t>
            </a:r>
            <a:endParaRPr lang="en-US" sz="1200" b="1" i="0" u="none" strike="noStrike">
              <a:solidFill>
                <a:srgbClr val="DC2626"/>
              </a:solidFill>
              <a:latin typeface="Noto Sans SC"/>
              <a:ea typeface="Noto Sans SC"/>
              <a:cs typeface="Noto Sans SC"/>
              <a:sym typeface="Noto Sans SC"/>
            </a:endParaRPr>
          </a:p>
        </p:txBody>
      </p:sp>
      <p:sp>
        <p:nvSpPr>
          <p:cNvPr id="16" name="AutoShape 16"/>
          <p:cNvSpPr/>
          <p:nvPr/>
        </p:nvSpPr>
        <p:spPr>
          <a:xfrm>
            <a:off x="9970770" y="3325495"/>
            <a:ext cx="1778000" cy="1079500"/>
          </a:xfrm>
          <a:prstGeom prst="roundRect">
            <a:avLst>
              <a:gd name="adj" fmla="val 0"/>
            </a:avLst>
          </a:prstGeom>
          <a:solidFill>
            <a:srgbClr val="FFFFFF">
              <a:alpha val="7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KNN</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0.556 → 0.488</a:t>
            </a:r>
            <a:endParaRPr lang="en-US" sz="1200" b="0" i="0" u="none" strike="noStrike">
              <a:solidFill>
                <a:srgbClr val="6B7280"/>
              </a:solidFill>
              <a:latin typeface="Noto Sans SC"/>
              <a:ea typeface="Noto Sans SC"/>
              <a:cs typeface="Noto Sans SC"/>
              <a:sym typeface="Noto Sans SC"/>
            </a:endParaRPr>
          </a:p>
          <a:p>
            <a:pPr marL="0" indent="0" algn="ctr">
              <a:lnSpc>
                <a:spcPct val="125000"/>
              </a:lnSpc>
            </a:pPr>
            <a:r>
              <a:rPr lang="en-US" sz="1200" b="1" i="0" u="none" strike="noStrike">
                <a:solidFill>
                  <a:srgbClr val="DC2626"/>
                </a:solidFill>
                <a:latin typeface="Noto Sans SC"/>
                <a:ea typeface="Noto Sans SC"/>
                <a:cs typeface="Noto Sans SC"/>
                <a:sym typeface="Noto Sans SC"/>
              </a:rPr>
              <a:t>↓ 12.2% Error</a:t>
            </a:r>
            <a:endParaRPr lang="en-US" sz="1200" b="1" i="0" u="none" strike="noStrike">
              <a:solidFill>
                <a:srgbClr val="DC2626"/>
              </a:solidFill>
              <a:latin typeface="Noto Sans SC"/>
              <a:ea typeface="Noto Sans SC"/>
              <a:cs typeface="Noto Sans SC"/>
              <a:sym typeface="Noto Sans SC"/>
            </a:endParaRPr>
          </a:p>
        </p:txBody>
      </p:sp>
      <p:sp>
        <p:nvSpPr>
          <p:cNvPr id="14" name="AutoShape 17"/>
          <p:cNvSpPr/>
          <p:nvPr/>
        </p:nvSpPr>
        <p:spPr>
          <a:xfrm>
            <a:off x="9970770" y="4644390"/>
            <a:ext cx="1778000" cy="1079500"/>
          </a:xfrm>
          <a:prstGeom prst="roundRect">
            <a:avLst>
              <a:gd name="adj" fmla="val 0"/>
            </a:avLst>
          </a:prstGeom>
          <a:solidFill>
            <a:srgbClr val="FFFFFF">
              <a:alpha val="70000"/>
            </a:srgbClr>
          </a:solidFill>
          <a:ln w="254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00000"/>
                </a:solidFill>
                <a:latin typeface="Noto Sans SC"/>
                <a:ea typeface="Noto Sans SC"/>
                <a:cs typeface="Noto Sans SC"/>
                <a:sym typeface="Noto Sans SC"/>
              </a:rPr>
              <a:t>Random Forest</a:t>
            </a:r>
            <a:endParaRPr lang="en-US" sz="1100"/>
          </a:p>
          <a:p>
            <a:pPr marL="0" indent="0" algn="ctr">
              <a:lnSpc>
                <a:spcPct val="125000"/>
              </a:lnSpc>
            </a:pPr>
            <a:r>
              <a:rPr lang="en-US" sz="1200" b="0" i="0" u="none" strike="noStrike">
                <a:solidFill>
                  <a:srgbClr val="6B7280"/>
                </a:solidFill>
                <a:latin typeface="Noto Sans SC"/>
                <a:ea typeface="Noto Sans SC"/>
                <a:cs typeface="Noto Sans SC"/>
                <a:sym typeface="Noto Sans SC"/>
              </a:rPr>
              <a:t>0.478 → 0.475</a:t>
            </a:r>
            <a:endParaRPr lang="en-US" sz="1200" b="0" i="0" u="none" strike="noStrike">
              <a:solidFill>
                <a:srgbClr val="6B7280"/>
              </a:solidFill>
              <a:latin typeface="Noto Sans SC"/>
              <a:ea typeface="Noto Sans SC"/>
              <a:cs typeface="Noto Sans SC"/>
              <a:sym typeface="Noto Sans SC"/>
            </a:endParaRPr>
          </a:p>
          <a:p>
            <a:pPr marL="0" indent="0" algn="ctr">
              <a:lnSpc>
                <a:spcPct val="125000"/>
              </a:lnSpc>
            </a:pPr>
            <a:r>
              <a:rPr lang="en-US" sz="1200" b="1" i="0" u="none" strike="noStrike">
                <a:solidFill>
                  <a:srgbClr val="16A34A"/>
                </a:solidFill>
                <a:latin typeface="Noto Sans SC"/>
                <a:ea typeface="Noto Sans SC"/>
                <a:cs typeface="Noto Sans SC"/>
                <a:sym typeface="Noto Sans SC"/>
              </a:rPr>
              <a:t>~ Stable</a:t>
            </a:r>
            <a:endParaRPr lang="en-US" sz="1200" b="1" i="0" u="none" strike="noStrike">
              <a:solidFill>
                <a:srgbClr val="16A34A"/>
              </a:solidFill>
              <a:latin typeface="Noto Sans SC"/>
              <a:ea typeface="Noto Sans SC"/>
              <a:cs typeface="Noto Sans SC"/>
              <a:sym typeface="Noto Sans SC"/>
            </a:endParaRPr>
          </a:p>
        </p:txBody>
      </p:sp>
      <p:sp>
        <p:nvSpPr>
          <p:cNvPr id="18" name="AutoShape 14"/>
          <p:cNvSpPr/>
          <p:nvPr/>
        </p:nvSpPr>
        <p:spPr>
          <a:xfrm>
            <a:off x="9852660" y="1359535"/>
            <a:ext cx="2061845" cy="45974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600" b="1" i="0" u="none" strike="noStrike">
                <a:solidFill>
                  <a:srgbClr val="9A3412"/>
                </a:solidFill>
                <a:latin typeface="Arial" panose="020B0604020202090204"/>
                <a:ea typeface="Arial" panose="020B0604020202090204"/>
                <a:cs typeface="Arial" panose="020B0604020202090204"/>
                <a:sym typeface="Arial" panose="020B0604020202090204"/>
              </a:rPr>
              <a:t> Model Performance     </a:t>
            </a:r>
            <a:endParaRPr lang="en-US" sz="1600" b="1" i="0" u="none" strike="noStrike">
              <a:solidFill>
                <a:srgbClr val="9A3412"/>
              </a:solidFill>
              <a:latin typeface="Arial" panose="020B0604020202090204"/>
              <a:ea typeface="Arial" panose="020B0604020202090204"/>
              <a:cs typeface="Arial" panose="020B0604020202090204"/>
              <a:sym typeface="Arial" panose="020B0604020202090204"/>
            </a:endParaRPr>
          </a:p>
          <a:p>
            <a:pPr marL="0" indent="0" algn="l">
              <a:lnSpc>
                <a:spcPct val="125000"/>
              </a:lnSpc>
              <a:defRPr/>
            </a:pPr>
            <a:r>
              <a:rPr lang="en-US" sz="1200" b="1" i="0" u="none" strike="noStrike">
                <a:solidFill>
                  <a:srgbClr val="9A3412"/>
                </a:solidFill>
                <a:latin typeface="Arial" panose="020B0604020202090204"/>
                <a:ea typeface="Arial" panose="020B0604020202090204"/>
                <a:cs typeface="Arial" panose="020B0604020202090204"/>
                <a:sym typeface="Arial" panose="020B0604020202090204"/>
              </a:rPr>
              <a:t>        (RMSE Reduction)</a:t>
            </a:r>
            <a:endParaRPr lang="en-US" sz="1200"/>
          </a:p>
        </p:txBody>
      </p:sp>
      <p:sp>
        <p:nvSpPr>
          <p:cNvPr id="8"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XUANHUI</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linds(horizontal)">
                                      <p:cBhvr>
                                        <p:cTn id="30" dur="500"/>
                                        <p:tgtEl>
                                          <p:spTgt spid="1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linds(horizontal)">
                                      <p:cBhvr>
                                        <p:cTn id="33" dur="500"/>
                                        <p:tgtEl>
                                          <p:spTgt spid="16"/>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linds(horizontal)">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1" grpId="0"/>
      <p:bldP spid="11" grpId="1"/>
      <p:bldP spid="13" grpId="0" animBg="1"/>
      <p:bldP spid="15" grpId="0" animBg="1"/>
      <p:bldP spid="16" grpId="0" animBg="1"/>
      <p:bldP spid="14" grpId="0" animBg="1"/>
      <p:bldP spid="18" grpId="0"/>
      <p:bldP spid="13" grpId="1" animBg="1"/>
      <p:bldP spid="15" grpId="1" animBg="1"/>
      <p:bldP spid="16" grpId="1" animBg="1"/>
      <p:bldP spid="14" grpId="1" animBg="1"/>
      <p:bldP spid="18"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pic>
        <p:nvPicPr>
          <p:cNvPr id="2" name="图片 1" descr="S08_model_benchmark_rmse_errorbar"/>
          <p:cNvPicPr>
            <a:picLocks noChangeAspect="1"/>
          </p:cNvPicPr>
          <p:nvPr/>
        </p:nvPicPr>
        <p:blipFill>
          <a:blip r:embed="rId2"/>
          <a:stretch>
            <a:fillRect/>
          </a:stretch>
        </p:blipFill>
        <p:spPr>
          <a:xfrm>
            <a:off x="1346200" y="3187065"/>
            <a:ext cx="4856480" cy="2868295"/>
          </a:xfrm>
          <a:prstGeom prst="rect">
            <a:avLst/>
          </a:prstGeom>
        </p:spPr>
      </p:pic>
      <p:sp>
        <p:nvSpPr>
          <p:cNvPr id="4" name="AutoShape 2"/>
          <p:cNvSpPr/>
          <p:nvPr/>
        </p:nvSpPr>
        <p:spPr>
          <a:xfrm>
            <a:off x="0" y="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Model Selection: Beyond Just Performance</a:t>
            </a:r>
            <a:endParaRPr lang="en-US" sz="1100"/>
          </a:p>
        </p:txBody>
      </p:sp>
      <p:sp>
        <p:nvSpPr>
          <p:cNvPr id="5" name="AutoShape 3"/>
          <p:cNvSpPr/>
          <p:nvPr/>
        </p:nvSpPr>
        <p:spPr>
          <a:xfrm>
            <a:off x="190500" y="520700"/>
            <a:ext cx="11811000" cy="5715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0" i="0" u="none" strike="noStrike">
                <a:solidFill>
                  <a:srgbClr val="323232"/>
                </a:solidFill>
                <a:latin typeface="Arial" panose="020B0604020202090204"/>
                <a:ea typeface="Arial" panose="020B0604020202090204"/>
                <a:cs typeface="Arial" panose="020B0604020202090204"/>
                <a:sym typeface="Arial" panose="020B0604020202090204"/>
              </a:rPr>
              <a:t>Effective model selection balances raw performance (RMSE) with stability, computational efficiency, and crucially, explainability for actionable insights.</a:t>
            </a:r>
            <a:endParaRPr lang="en-US" sz="1100"/>
          </a:p>
        </p:txBody>
      </p:sp>
      <p:sp>
        <p:nvSpPr>
          <p:cNvPr id="6" name="AutoShape 4"/>
          <p:cNvSpPr/>
          <p:nvPr/>
        </p:nvSpPr>
        <p:spPr>
          <a:xfrm>
            <a:off x="558800" y="1244600"/>
            <a:ext cx="3467100" cy="1651000"/>
          </a:xfrm>
          <a:prstGeom prst="roundRect">
            <a:avLst>
              <a:gd name="adj" fmla="val 0"/>
            </a:avLst>
          </a:prstGeom>
          <a:solidFill>
            <a:srgbClr val="EFF6FF">
              <a:alpha val="90000"/>
            </a:srgbClr>
          </a:solidFill>
          <a:ln w="12700" cap="flat" cmpd="sng">
            <a:solidFill>
              <a:srgbClr val="3B82F6">
                <a:alpha val="100000"/>
              </a:srgbClr>
            </a:solidFill>
            <a:prstDash val="solid"/>
            <a:round/>
          </a:ln>
        </p:spPr>
        <p:txBody>
          <a:bodyPr vert="horz" wrap="square" lIns="127000" tIns="101600" rIns="127000" bIns="101600" rtlCol="0" anchor="ctr" anchorCtr="0"/>
          <a:p>
            <a:pPr marL="0" indent="0" algn="ctr">
              <a:lnSpc>
                <a:spcPct val="92000"/>
              </a:lnSpc>
              <a:defRPr/>
            </a:pPr>
            <a:r>
              <a:rPr lang="en-US" sz="1600" b="1" i="0" u="none" strike="noStrike">
                <a:solidFill>
                  <a:srgbClr val="1E40AF"/>
                </a:solidFill>
                <a:latin typeface="Arial" panose="020B0604020202090204"/>
                <a:ea typeface="Arial" panose="020B0604020202090204"/>
                <a:cs typeface="Arial" panose="020B0604020202090204"/>
                <a:sym typeface="Arial" panose="020B0604020202090204"/>
              </a:rPr>
              <a:t>01. Linear Regression</a:t>
            </a:r>
            <a:endParaRPr lang="en-US" sz="1100"/>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Core:</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Models linear relationships between features &amp; target.</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Pros: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Fully interpretable, lightning-fast training.</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Cons: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Fails on non-linear data, sensitive to outliers.</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B91C1C"/>
                </a:solidFill>
                <a:latin typeface="Arial" panose="020B0604020202090204"/>
                <a:ea typeface="Arial" panose="020B0604020202090204"/>
                <a:cs typeface="Arial" panose="020B0604020202090204"/>
                <a:sym typeface="Arial" panose="020B0604020202090204"/>
              </a:rPr>
              <a:t>Result: 5-fold CV RMSE = 0.480</a:t>
            </a:r>
            <a:endParaRPr lang="en-US" sz="1200" b="1" i="0" u="none" strike="noStrike">
              <a:solidFill>
                <a:srgbClr val="B91C1C"/>
              </a:solidFill>
              <a:latin typeface="Arial" panose="020B0604020202090204"/>
              <a:ea typeface="Arial" panose="020B0604020202090204"/>
              <a:cs typeface="Arial" panose="020B0604020202090204"/>
              <a:sym typeface="Arial" panose="020B0604020202090204"/>
            </a:endParaRPr>
          </a:p>
        </p:txBody>
      </p:sp>
      <p:sp>
        <p:nvSpPr>
          <p:cNvPr id="7" name="AutoShape 5"/>
          <p:cNvSpPr/>
          <p:nvPr/>
        </p:nvSpPr>
        <p:spPr>
          <a:xfrm>
            <a:off x="4362450" y="1243965"/>
            <a:ext cx="3467100" cy="1651000"/>
          </a:xfrm>
          <a:prstGeom prst="roundRect">
            <a:avLst>
              <a:gd name="adj" fmla="val 0"/>
            </a:avLst>
          </a:prstGeom>
          <a:solidFill>
            <a:srgbClr val="FFF7ED">
              <a:alpha val="90000"/>
            </a:srgbClr>
          </a:solidFill>
          <a:ln w="25400" cap="flat" cmpd="sng">
            <a:solidFill>
              <a:srgbClr val="EA580C">
                <a:alpha val="100000"/>
              </a:srgbClr>
            </a:solidFill>
            <a:prstDash val="solid"/>
            <a:round/>
          </a:ln>
        </p:spPr>
        <p:txBody>
          <a:bodyPr vert="horz" wrap="square" lIns="127000" tIns="101600" rIns="127000" bIns="101600" rtlCol="0" anchor="ctr" anchorCtr="0"/>
          <a:p>
            <a:pPr marL="0" indent="0" algn="ctr">
              <a:lnSpc>
                <a:spcPct val="92000"/>
              </a:lnSpc>
              <a:defRPr/>
            </a:pPr>
            <a:r>
              <a:rPr lang="en-US" sz="1600" b="1" i="0" u="none" strike="noStrike">
                <a:solidFill>
                  <a:srgbClr val="9A3412"/>
                </a:solidFill>
                <a:latin typeface="Arial" panose="020B0604020202090204"/>
                <a:ea typeface="Arial" panose="020B0604020202090204"/>
                <a:cs typeface="Arial" panose="020B0604020202090204"/>
                <a:sym typeface="Arial" panose="020B0604020202090204"/>
              </a:rPr>
              <a:t>02. Random Forest (Selected)</a:t>
            </a:r>
            <a:endParaRPr lang="en-US" sz="1100"/>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Core:</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Ensemble of decision trees (bagging) to reduce overfitting.</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Pros: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Robust to outliers, provides feature importance.</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Cons: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More computationally intensive than linear models.</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B91C1C"/>
                </a:solidFill>
                <a:latin typeface="Arial" panose="020B0604020202090204"/>
                <a:ea typeface="Arial" panose="020B0604020202090204"/>
                <a:cs typeface="Arial" panose="020B0604020202090204"/>
                <a:sym typeface="Arial" panose="020B0604020202090204"/>
              </a:rPr>
              <a:t>Result: 5-fold CV RMSE = 0.478</a:t>
            </a:r>
            <a:endParaRPr lang="en-US" sz="1200" b="1" i="0" u="none" strike="noStrike">
              <a:solidFill>
                <a:srgbClr val="B91C1C"/>
              </a:solidFill>
              <a:latin typeface="Arial" panose="020B0604020202090204"/>
              <a:ea typeface="Arial" panose="020B0604020202090204"/>
              <a:cs typeface="Arial" panose="020B0604020202090204"/>
              <a:sym typeface="Arial" panose="020B0604020202090204"/>
            </a:endParaRPr>
          </a:p>
        </p:txBody>
      </p:sp>
      <p:sp>
        <p:nvSpPr>
          <p:cNvPr id="9" name="AutoShape 6"/>
          <p:cNvSpPr/>
          <p:nvPr/>
        </p:nvSpPr>
        <p:spPr>
          <a:xfrm>
            <a:off x="8166100" y="1244600"/>
            <a:ext cx="3466465" cy="1650365"/>
          </a:xfrm>
          <a:prstGeom prst="roundRect">
            <a:avLst>
              <a:gd name="adj" fmla="val 0"/>
            </a:avLst>
          </a:prstGeom>
          <a:solidFill>
            <a:srgbClr val="F0FDF4">
              <a:alpha val="90000"/>
            </a:srgbClr>
          </a:solidFill>
          <a:ln w="12700" cap="flat" cmpd="sng">
            <a:solidFill>
              <a:srgbClr val="16A34A">
                <a:alpha val="100000"/>
              </a:srgbClr>
            </a:solidFill>
            <a:prstDash val="solid"/>
            <a:round/>
          </a:ln>
        </p:spPr>
        <p:txBody>
          <a:bodyPr vert="horz" wrap="square" lIns="127000" tIns="101600" rIns="127000" bIns="101600" rtlCol="0" anchor="ctr" anchorCtr="0"/>
          <a:p>
            <a:pPr marL="0" indent="0" algn="ctr">
              <a:lnSpc>
                <a:spcPct val="92000"/>
              </a:lnSpc>
              <a:defRPr/>
            </a:pPr>
            <a:r>
              <a:rPr lang="en-US" sz="1600" b="1" i="0" u="none" strike="noStrike">
                <a:solidFill>
                  <a:srgbClr val="15803D"/>
                </a:solidFill>
                <a:latin typeface="Arial" panose="020B0604020202090204"/>
                <a:ea typeface="Arial" panose="020B0604020202090204"/>
                <a:cs typeface="Arial" panose="020B0604020202090204"/>
                <a:sym typeface="Arial" panose="020B0604020202090204"/>
              </a:rPr>
              <a:t>03. HistGradientBoosting</a:t>
            </a:r>
            <a:endParaRPr lang="en-US" sz="1100"/>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Core:</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Gradient boosting with histogram-based binning for speed.</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Pros: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State-of-the-art accuracy, efficient on big data.</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4B5563"/>
                </a:solidFill>
                <a:latin typeface="Arial" panose="020B0604020202090204"/>
                <a:ea typeface="Arial" panose="020B0604020202090204"/>
                <a:cs typeface="Arial" panose="020B0604020202090204"/>
                <a:sym typeface="Arial" panose="020B0604020202090204"/>
              </a:rPr>
              <a:t>Cons:</a:t>
            </a:r>
            <a:r>
              <a:rPr lang="en-US" sz="1200" b="0" i="0" u="none" strike="noStrike">
                <a:solidFill>
                  <a:srgbClr val="4B5563"/>
                </a:solidFill>
                <a:latin typeface="Arial" panose="020B0604020202090204"/>
                <a:ea typeface="Arial" panose="020B0604020202090204"/>
                <a:cs typeface="Arial" panose="020B0604020202090204"/>
                <a:sym typeface="Arial" panose="020B0604020202090204"/>
              </a:rPr>
              <a:t> High risk of overfitting if not tuned; less interpretable.</a:t>
            </a:r>
            <a:endParaRPr lang="en-US" sz="1200" b="0" i="0" u="none" strike="noStrike">
              <a:solidFill>
                <a:srgbClr val="4B5563"/>
              </a:solidFill>
              <a:latin typeface="Arial" panose="020B0604020202090204"/>
              <a:ea typeface="Arial" panose="020B0604020202090204"/>
              <a:cs typeface="Arial" panose="020B0604020202090204"/>
              <a:sym typeface="Arial" panose="020B0604020202090204"/>
            </a:endParaRPr>
          </a:p>
          <a:p>
            <a:pPr marL="0" indent="0" algn="ctr">
              <a:lnSpc>
                <a:spcPct val="100000"/>
              </a:lnSpc>
            </a:pPr>
            <a:r>
              <a:rPr lang="en-US" sz="1200" b="1" i="0" u="none" strike="noStrike">
                <a:solidFill>
                  <a:srgbClr val="B91C1C"/>
                </a:solidFill>
                <a:latin typeface="Arial" panose="020B0604020202090204"/>
                <a:ea typeface="Arial" panose="020B0604020202090204"/>
                <a:cs typeface="Arial" panose="020B0604020202090204"/>
                <a:sym typeface="Arial" panose="020B0604020202090204"/>
              </a:rPr>
              <a:t>Result: 5-fold CV RMSE = 0.476</a:t>
            </a:r>
            <a:endParaRPr lang="en-US" sz="1200" b="1" i="0" u="none" strike="noStrike">
              <a:solidFill>
                <a:srgbClr val="B91C1C"/>
              </a:solidFill>
              <a:latin typeface="Arial" panose="020B0604020202090204"/>
              <a:ea typeface="Arial" panose="020B0604020202090204"/>
              <a:cs typeface="Arial" panose="020B0604020202090204"/>
              <a:sym typeface="Arial" panose="020B0604020202090204"/>
            </a:endParaRPr>
          </a:p>
        </p:txBody>
      </p:sp>
      <p:pic>
        <p:nvPicPr>
          <p:cNvPr id="10" name="图片 9" descr="箭头-直角-右上"/>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3780000">
            <a:off x="5483225" y="3531870"/>
            <a:ext cx="827405" cy="827405"/>
          </a:xfrm>
          <a:prstGeom prst="rect">
            <a:avLst/>
          </a:prstGeom>
        </p:spPr>
      </p:pic>
      <p:sp>
        <p:nvSpPr>
          <p:cNvPr id="11" name="减号 10"/>
          <p:cNvSpPr/>
          <p:nvPr/>
        </p:nvSpPr>
        <p:spPr>
          <a:xfrm>
            <a:off x="676275" y="3168650"/>
            <a:ext cx="5526405" cy="1333500"/>
          </a:xfrm>
          <a:prstGeom prst="mathMinus">
            <a:avLst/>
          </a:prstGeom>
          <a:solidFill>
            <a:srgbClr val="FFFF00">
              <a:alpha val="0"/>
            </a:srgbClr>
          </a:solidFill>
          <a:ln w="25400" cap="flat" cmpd="sng">
            <a:solidFill>
              <a:srgbClr val="FF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AutoShape 8"/>
          <p:cNvSpPr/>
          <p:nvPr/>
        </p:nvSpPr>
        <p:spPr>
          <a:xfrm>
            <a:off x="6453505" y="3694430"/>
            <a:ext cx="3785235" cy="1334135"/>
          </a:xfrm>
          <a:prstGeom prst="roundRect">
            <a:avLst>
              <a:gd name="adj" fmla="val 0"/>
            </a:avLst>
          </a:prstGeom>
          <a:solidFill>
            <a:srgbClr val="FFFFFF">
              <a:alpha val="85000"/>
            </a:srgbClr>
          </a:solidFill>
          <a:ln w="12700" cap="flat" cmpd="sng">
            <a:solidFill>
              <a:srgbClr val="6B7280">
                <a:alpha val="100000"/>
              </a:srgbClr>
            </a:solidFill>
            <a:prstDash val="solid"/>
            <a:round/>
          </a:ln>
        </p:spPr>
        <p:txBody>
          <a:bodyPr vert="horz" wrap="square" lIns="190500" tIns="127000" rIns="190500" bIns="127000" rtlCol="0" anchor="ctr" anchorCtr="0"/>
          <a:p>
            <a:pPr marL="0" indent="0" algn="ctr">
              <a:lnSpc>
                <a:spcPct val="108000"/>
              </a:lnSpc>
              <a:defRPr/>
            </a:pPr>
            <a:r>
              <a:rPr lang="en-US" sz="1600" b="1" i="0" u="none" strike="noStrike">
                <a:solidFill>
                  <a:srgbClr val="800000"/>
                </a:solidFill>
                <a:latin typeface="Arial" panose="020B0604020202090204"/>
                <a:ea typeface="Arial" panose="020B0604020202090204"/>
                <a:cs typeface="Arial" panose="020B0604020202090204"/>
                <a:sym typeface="Arial" panose="020B0604020202090204"/>
              </a:rPr>
              <a:t>Final Decision: Random Forest</a:t>
            </a:r>
            <a:endParaRPr lang="en-US" sz="1100"/>
          </a:p>
          <a:p>
            <a:pPr marL="0" indent="0" algn="ctr">
              <a:lnSpc>
                <a:spcPct val="108000"/>
              </a:lnSpc>
            </a:pPr>
            <a:r>
              <a:rPr lang="en-US" sz="1300" b="0" i="0" u="none" strike="noStrike">
                <a:solidFill>
                  <a:srgbClr val="1F2329"/>
                </a:solidFill>
                <a:latin typeface="Arial" panose="020B0604020202090204"/>
                <a:ea typeface="Arial" panose="020B0604020202090204"/>
                <a:cs typeface="Arial" panose="020B0604020202090204"/>
                <a:sym typeface="Arial" panose="020B0604020202090204"/>
              </a:rPr>
              <a:t>RMSE=0.478</a:t>
            </a:r>
            <a:endParaRPr lang="en-US" sz="13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300" b="0" i="0" u="none" strike="noStrike">
                <a:solidFill>
                  <a:srgbClr val="1F2329"/>
                </a:solidFill>
                <a:latin typeface="Arial" panose="020B0604020202090204"/>
                <a:ea typeface="Arial" panose="020B0604020202090204"/>
                <a:cs typeface="Arial" panose="020B0604020202090204"/>
                <a:sym typeface="Arial" panose="020B0604020202090204"/>
              </a:rPr>
              <a:t>exceptional stability </a:t>
            </a:r>
            <a:endParaRPr lang="en-US" sz="1300" b="0" i="0" u="none" strike="noStrike">
              <a:solidFill>
                <a:srgbClr val="1F2329"/>
              </a:solidFill>
              <a:latin typeface="Arial" panose="020B0604020202090204"/>
              <a:ea typeface="Arial" panose="020B0604020202090204"/>
              <a:cs typeface="Arial" panose="020B0604020202090204"/>
              <a:sym typeface="Arial" panose="020B0604020202090204"/>
            </a:endParaRPr>
          </a:p>
          <a:p>
            <a:pPr marL="0" indent="0" algn="ctr">
              <a:lnSpc>
                <a:spcPct val="108000"/>
              </a:lnSpc>
            </a:pPr>
            <a:r>
              <a:rPr lang="en-US" sz="1300" b="0" i="0" u="none" strike="noStrike">
                <a:solidFill>
                  <a:srgbClr val="1F2329"/>
                </a:solidFill>
                <a:latin typeface="Arial" panose="020B0604020202090204"/>
                <a:ea typeface="Arial" panose="020B0604020202090204"/>
                <a:cs typeface="Arial" panose="020B0604020202090204"/>
                <a:sym typeface="Arial" panose="020B0604020202090204"/>
              </a:rPr>
              <a:t>built-in </a:t>
            </a:r>
            <a:r>
              <a:rPr lang="en-US" sz="1300" i="0" u="none" strike="noStrike">
                <a:solidFill>
                  <a:srgbClr val="1F2329"/>
                </a:solidFill>
                <a:latin typeface="Arial" panose="020B0604020202090204" pitchFamily="34" charset="0"/>
                <a:ea typeface="Arial" panose="020B0604020202090204"/>
                <a:cs typeface="Arial" panose="020B0604020202090204" pitchFamily="34" charset="0"/>
                <a:sym typeface="Arial" panose="020B0604020202090204"/>
              </a:rPr>
              <a:t>explainability tools </a:t>
            </a:r>
            <a:endParaRPr lang="en-US" sz="1300" i="0" u="none" strike="noStrike">
              <a:solidFill>
                <a:srgbClr val="1F2329"/>
              </a:solidFill>
              <a:latin typeface="Arial" panose="020B0604020202090204" pitchFamily="34" charset="0"/>
              <a:ea typeface="Arial" panose="020B0604020202090204"/>
              <a:cs typeface="Arial" panose="020B0604020202090204" pitchFamily="34" charset="0"/>
              <a:sym typeface="Arial" panose="020B0604020202090204"/>
            </a:endParaRPr>
          </a:p>
        </p:txBody>
      </p:sp>
      <p:sp>
        <p:nvSpPr>
          <p:cNvPr id="3"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XUANHUI</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pic>
        <p:nvPicPr>
          <p:cNvPr id="2" name="图片 1" descr="S09_rf_tuning_ranked_dot"/>
          <p:cNvPicPr>
            <a:picLocks noChangeAspect="1"/>
          </p:cNvPicPr>
          <p:nvPr/>
        </p:nvPicPr>
        <p:blipFill>
          <a:blip r:embed="rId2"/>
          <a:stretch>
            <a:fillRect/>
          </a:stretch>
        </p:blipFill>
        <p:spPr>
          <a:xfrm>
            <a:off x="279400" y="2240280"/>
            <a:ext cx="4101465" cy="2378075"/>
          </a:xfrm>
          <a:prstGeom prst="rect">
            <a:avLst/>
          </a:prstGeom>
        </p:spPr>
      </p:pic>
      <p:sp>
        <p:nvSpPr>
          <p:cNvPr id="3" name="AutoShape 2"/>
          <p:cNvSpPr/>
          <p:nvPr/>
        </p:nvSpPr>
        <p:spPr>
          <a:xfrm>
            <a:off x="0" y="22860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92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Hyperparameter Tuning: Finding the Optimal Complexity</a:t>
            </a:r>
            <a:endParaRPr lang="en-US" sz="1100"/>
          </a:p>
        </p:txBody>
      </p:sp>
      <p:sp>
        <p:nvSpPr>
          <p:cNvPr id="4" name="AutoShape 3"/>
          <p:cNvSpPr/>
          <p:nvPr/>
        </p:nvSpPr>
        <p:spPr>
          <a:xfrm>
            <a:off x="190500" y="914400"/>
            <a:ext cx="11811000" cy="571500"/>
          </a:xfrm>
          <a:prstGeom prst="rect">
            <a:avLst/>
          </a:prstGeom>
          <a:noFill/>
          <a:ln w="12700" cap="flat" cmpd="sng">
            <a:noFill/>
            <a:prstDash val="solid"/>
            <a:round/>
          </a:ln>
        </p:spPr>
        <p:txBody>
          <a:bodyPr vert="horz" wrap="square" lIns="88900" tIns="50800" rIns="88900" bIns="50800" rtlCol="0" anchor="t" anchorCtr="0"/>
          <a:p>
            <a:pPr marL="0" indent="0" algn="l">
              <a:lnSpc>
                <a:spcPct val="100000"/>
              </a:lnSpc>
              <a:defRPr/>
            </a:pPr>
            <a:r>
              <a:rPr lang="en-US" sz="1600" b="1" i="0" u="none" strike="noStrike">
                <a:solidFill>
                  <a:srgbClr val="0000CC"/>
                </a:solidFill>
                <a:latin typeface="Arial" panose="020B0604020202090204"/>
                <a:ea typeface="Arial" panose="020B0604020202090204"/>
                <a:cs typeface="Arial" panose="020B0604020202090204"/>
                <a:sym typeface="Arial" panose="020B0604020202090204"/>
              </a:rPr>
              <a:t>Key Insight:</a:t>
            </a:r>
            <a:r>
              <a:rPr lang="en-US" sz="1600" b="0" i="0" u="none" strike="noStrike">
                <a:solidFill>
                  <a:srgbClr val="1F2329"/>
                </a:solidFill>
                <a:latin typeface="Noto Sans SC"/>
                <a:ea typeface="Noto Sans SC"/>
                <a:cs typeface="Noto Sans SC"/>
                <a:sym typeface="Noto Sans SC"/>
              </a:rPr>
              <a:t> </a:t>
            </a:r>
            <a: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t>More complex trees do not guarantee better generalization. Moderate regularization (e.g., limiting depth) yields the most stable and accurate predictions.</a:t>
            </a:r>
            <a:endParaRPr lang="en-US" sz="1100"/>
          </a:p>
        </p:txBody>
      </p:sp>
      <p:sp>
        <p:nvSpPr>
          <p:cNvPr id="6" name="AutoShape 5"/>
          <p:cNvSpPr/>
          <p:nvPr/>
        </p:nvSpPr>
        <p:spPr>
          <a:xfrm>
            <a:off x="4469765" y="1943100"/>
            <a:ext cx="3455035" cy="1257300"/>
          </a:xfrm>
          <a:prstGeom prst="roundRect">
            <a:avLst>
              <a:gd name="adj" fmla="val 0"/>
            </a:avLst>
          </a:prstGeom>
          <a:solidFill>
            <a:srgbClr val="166534">
              <a:alpha val="100000"/>
            </a:srgbClr>
          </a:solidFill>
          <a:ln w="25400" cap="flat" cmpd="sng">
            <a:solidFill>
              <a:srgbClr val="000000">
                <a:alpha val="100000"/>
              </a:srgbClr>
            </a:solidFill>
            <a:prstDash val="solid"/>
            <a:round/>
          </a:ln>
        </p:spPr>
        <p:txBody>
          <a:bodyPr vert="horz" wrap="square" lIns="127000" tIns="101600" rIns="127000" bIns="101600" rtlCol="0" anchor="ctr" anchorCtr="0"/>
          <a:p>
            <a:pPr marL="0" indent="0" algn="l">
              <a:lnSpc>
                <a:spcPct val="100000"/>
              </a:lnSpc>
              <a:defRPr/>
            </a:pPr>
            <a:r>
              <a:rPr lang="en-US" sz="1600" b="1" i="0" u="none" strike="noStrike">
                <a:solidFill>
                  <a:srgbClr val="FFFFFF"/>
                </a:solidFill>
                <a:latin typeface="Arial" panose="020B0604020202090204"/>
                <a:ea typeface="Arial" panose="020B0604020202090204"/>
                <a:cs typeface="Arial" panose="020B0604020202090204"/>
                <a:sym typeface="Arial" panose="020B0604020202090204"/>
              </a:rPr>
              <a:t>OPTIMAL MODEL (RMSE: 0.476)</a:t>
            </a:r>
            <a:endParaRPr lang="en-US" sz="1100"/>
          </a:p>
          <a:p>
            <a:pPr marL="0" indent="0" algn="l">
              <a:lnSpc>
                <a:spcPct val="100000"/>
              </a:lnSpc>
            </a:pPr>
            <a:r>
              <a:rPr lang="en-US" sz="1400" b="0" i="0" u="none" strike="noStrike">
                <a:solidFill>
                  <a:srgbClr val="DCFCE7"/>
                </a:solidFill>
                <a:latin typeface="Arial" panose="020B0604020202090204"/>
                <a:ea typeface="Arial" panose="020B0604020202090204"/>
                <a:cs typeface="Arial" panose="020B0604020202090204"/>
                <a:sym typeface="Arial" panose="020B0604020202090204"/>
              </a:rPr>
              <a:t>Params: max_depth=10, min_samples_leaf=7</a:t>
            </a:r>
            <a:endParaRPr lang="en-US" sz="1400" b="0" i="0" u="none" strike="noStrike">
              <a:solidFill>
                <a:srgbClr val="DCFCE7"/>
              </a:solidFill>
              <a:latin typeface="Arial" panose="020B0604020202090204"/>
              <a:ea typeface="Arial" panose="020B0604020202090204"/>
              <a:cs typeface="Arial" panose="020B0604020202090204"/>
              <a:sym typeface="Arial" panose="020B0604020202090204"/>
            </a:endParaRPr>
          </a:p>
          <a:p>
            <a:pPr marL="0" indent="0" algn="l">
              <a:lnSpc>
                <a:spcPct val="100000"/>
              </a:lnSpc>
            </a:pPr>
            <a:r>
              <a:rPr lang="en-US" sz="1400" b="0" i="0" u="none" strike="noStrike">
                <a:solidFill>
                  <a:srgbClr val="DCFCE7"/>
                </a:solidFill>
                <a:latin typeface="Arial" panose="020B0604020202090204"/>
                <a:ea typeface="Arial" panose="020B0604020202090204"/>
                <a:cs typeface="Arial" panose="020B0604020202090204"/>
                <a:sym typeface="Arial" panose="020B0604020202090204"/>
              </a:rPr>
              <a:t>Best balance of bias &amp; variance, lowest error on validation set.</a:t>
            </a:r>
            <a:endParaRPr lang="en-US" sz="1400" b="0" i="0" u="none" strike="noStrike">
              <a:solidFill>
                <a:srgbClr val="DCFCE7"/>
              </a:solidFill>
              <a:latin typeface="Arial" panose="020B0604020202090204"/>
              <a:ea typeface="Arial" panose="020B0604020202090204"/>
              <a:cs typeface="Arial" panose="020B0604020202090204"/>
              <a:sym typeface="Arial" panose="020B0604020202090204"/>
            </a:endParaRPr>
          </a:p>
        </p:txBody>
      </p:sp>
      <p:sp>
        <p:nvSpPr>
          <p:cNvPr id="7" name="AutoShape 6"/>
          <p:cNvSpPr/>
          <p:nvPr/>
        </p:nvSpPr>
        <p:spPr>
          <a:xfrm>
            <a:off x="8482330" y="1943100"/>
            <a:ext cx="3201670" cy="1257300"/>
          </a:xfrm>
          <a:prstGeom prst="roundRect">
            <a:avLst>
              <a:gd name="adj" fmla="val 0"/>
            </a:avLst>
          </a:prstGeom>
          <a:solidFill>
            <a:srgbClr val="22C55E">
              <a:alpha val="100000"/>
            </a:srgbClr>
          </a:solidFill>
          <a:ln w="12700" cap="flat" cmpd="sng">
            <a:solidFill>
              <a:srgbClr val="000000">
                <a:alpha val="100000"/>
              </a:srgbClr>
            </a:solidFill>
            <a:prstDash val="solid"/>
            <a:round/>
          </a:ln>
        </p:spPr>
        <p:txBody>
          <a:bodyPr vert="horz" wrap="square" lIns="127000" tIns="101600" rIns="127000" bIns="101600" rtlCol="0" anchor="ctr" anchorCtr="0"/>
          <a:p>
            <a:pPr marL="0" indent="0" algn="l">
              <a:lnSpc>
                <a:spcPct val="100000"/>
              </a:lnSpc>
              <a:defRPr/>
            </a:pPr>
            <a:r>
              <a:rPr lang="en-US" sz="1600" b="1" i="0" u="none" strike="noStrike">
                <a:solidFill>
                  <a:srgbClr val="FFFFFF"/>
                </a:solidFill>
                <a:latin typeface="Arial" panose="020B0604020202090204"/>
                <a:ea typeface="Arial" panose="020B0604020202090204"/>
                <a:cs typeface="Arial" panose="020B0604020202090204"/>
                <a:sym typeface="Arial" panose="020B0604020202090204"/>
              </a:rPr>
              <a:t>GOOD FIT (RMSE: 0.478)</a:t>
            </a:r>
            <a:endParaRPr lang="en-US" sz="1100"/>
          </a:p>
          <a:p>
            <a:pPr marL="0" indent="0" algn="l">
              <a:lnSpc>
                <a:spcPct val="100000"/>
              </a:lnSpc>
            </a:pPr>
            <a:r>
              <a:rPr lang="en-US" sz="1400" b="0" i="0" u="none" strike="noStrike">
                <a:solidFill>
                  <a:srgbClr val="F0FDF4"/>
                </a:solidFill>
                <a:latin typeface="Arial" panose="020B0604020202090204"/>
                <a:ea typeface="Arial" panose="020B0604020202090204"/>
                <a:cs typeface="Arial" panose="020B0604020202090204"/>
                <a:sym typeface="Arial" panose="020B0604020202090204"/>
              </a:rPr>
              <a:t>Params: max_depth=14, min_samples_leaf=3 </a:t>
            </a:r>
            <a:endParaRPr lang="en-US" sz="1400" b="0" i="0" u="none" strike="noStrike">
              <a:solidFill>
                <a:srgbClr val="F0FDF4"/>
              </a:solidFill>
              <a:latin typeface="Arial" panose="020B0604020202090204"/>
              <a:ea typeface="Arial" panose="020B0604020202090204"/>
              <a:cs typeface="Arial" panose="020B0604020202090204"/>
              <a:sym typeface="Arial" panose="020B0604020202090204"/>
            </a:endParaRPr>
          </a:p>
          <a:p>
            <a:pPr marL="0" indent="0" algn="l">
              <a:lnSpc>
                <a:spcPct val="100000"/>
              </a:lnSpc>
            </a:pPr>
            <a:r>
              <a:rPr lang="en-US" sz="1400" b="0" i="0" u="none" strike="noStrike">
                <a:solidFill>
                  <a:srgbClr val="F0FDF4"/>
                </a:solidFill>
                <a:latin typeface="Arial" panose="020B0604020202090204"/>
                <a:ea typeface="Arial" panose="020B0604020202090204"/>
                <a:cs typeface="Arial" panose="020B0604020202090204"/>
                <a:sym typeface="Arial" panose="020B0604020202090204"/>
              </a:rPr>
              <a:t>Slightly higher complexity, marginally increased error.</a:t>
            </a:r>
            <a:endParaRPr lang="en-US" sz="1400" b="0" i="0" u="none" strike="noStrike">
              <a:solidFill>
                <a:srgbClr val="F0FDF4"/>
              </a:solidFill>
              <a:latin typeface="Arial" panose="020B0604020202090204"/>
              <a:ea typeface="Arial" panose="020B0604020202090204"/>
              <a:cs typeface="Arial" panose="020B0604020202090204"/>
              <a:sym typeface="Arial" panose="020B0604020202090204"/>
            </a:endParaRPr>
          </a:p>
        </p:txBody>
      </p:sp>
      <p:sp>
        <p:nvSpPr>
          <p:cNvPr id="8" name="AutoShape 7"/>
          <p:cNvSpPr/>
          <p:nvPr/>
        </p:nvSpPr>
        <p:spPr>
          <a:xfrm>
            <a:off x="4470400" y="3975100"/>
            <a:ext cx="3454400" cy="1257300"/>
          </a:xfrm>
          <a:prstGeom prst="roundRect">
            <a:avLst>
              <a:gd name="adj" fmla="val 0"/>
            </a:avLst>
          </a:prstGeom>
          <a:solidFill>
            <a:srgbClr val="EAB308">
              <a:alpha val="100000"/>
            </a:srgbClr>
          </a:solidFill>
          <a:ln w="12700" cap="flat" cmpd="sng">
            <a:solidFill>
              <a:srgbClr val="000000">
                <a:alpha val="100000"/>
              </a:srgbClr>
            </a:solidFill>
            <a:prstDash val="solid"/>
            <a:round/>
          </a:ln>
        </p:spPr>
        <p:txBody>
          <a:bodyPr vert="horz" wrap="square" lIns="127000" tIns="101600" rIns="127000" bIns="101600" rtlCol="0" anchor="ctr" anchorCtr="0"/>
          <a:p>
            <a:pPr marL="0" indent="0" algn="l">
              <a:lnSpc>
                <a:spcPct val="100000"/>
              </a:lnSpc>
              <a:defRPr/>
            </a:pPr>
            <a:r>
              <a:rPr lang="en-US" sz="1600" b="1" i="0" u="none" strike="noStrike">
                <a:solidFill>
                  <a:srgbClr val="FFFFFF"/>
                </a:solidFill>
                <a:latin typeface="Arial" panose="020B0604020202090204"/>
                <a:ea typeface="Arial" panose="020B0604020202090204"/>
                <a:cs typeface="Arial" panose="020B0604020202090204"/>
                <a:sym typeface="Arial" panose="020B0604020202090204"/>
              </a:rPr>
              <a:t>MODERATE (RMSE: 0.480)</a:t>
            </a:r>
            <a:endParaRPr lang="en-US" sz="1100"/>
          </a:p>
          <a:p>
            <a:pPr marL="0" indent="0" algn="l">
              <a:lnSpc>
                <a:spcPct val="100000"/>
              </a:lnSpc>
            </a:pPr>
            <a:r>
              <a:rPr lang="en-US" sz="1400" b="0" i="0" u="none" strike="noStrike">
                <a:solidFill>
                  <a:srgbClr val="FFFBEB"/>
                </a:solidFill>
                <a:latin typeface="Arial" panose="020B0604020202090204"/>
                <a:ea typeface="Arial" panose="020B0604020202090204"/>
                <a:cs typeface="Arial" panose="020B0604020202090204"/>
                <a:sym typeface="Arial" panose="020B0604020202090204"/>
              </a:rPr>
              <a:t>Params: max_depth=10, min_samples_leaf=3</a:t>
            </a:r>
            <a:endParaRPr lang="en-US" sz="1400" b="0" i="0" u="none" strike="noStrike">
              <a:solidFill>
                <a:srgbClr val="FFFBEB"/>
              </a:solidFill>
              <a:latin typeface="Arial" panose="020B0604020202090204"/>
              <a:ea typeface="Arial" panose="020B0604020202090204"/>
              <a:cs typeface="Arial" panose="020B0604020202090204"/>
              <a:sym typeface="Arial" panose="020B0604020202090204"/>
            </a:endParaRPr>
          </a:p>
          <a:p>
            <a:pPr marL="0" indent="0" algn="l">
              <a:lnSpc>
                <a:spcPct val="100000"/>
              </a:lnSpc>
            </a:pPr>
            <a:r>
              <a:rPr lang="en-US" sz="1400" b="0" i="0" u="none" strike="noStrike">
                <a:solidFill>
                  <a:srgbClr val="FFFBEB"/>
                </a:solidFill>
                <a:latin typeface="Arial" panose="020B0604020202090204"/>
                <a:ea typeface="Arial" panose="020B0604020202090204"/>
                <a:cs typeface="Arial" panose="020B0604020202090204"/>
                <a:sym typeface="Arial" panose="020B0604020202090204"/>
              </a:rPr>
              <a:t>Under-regularized, slight overfitting to training data.</a:t>
            </a:r>
            <a:endParaRPr lang="en-US" sz="1400" b="0" i="0" u="none" strike="noStrike">
              <a:solidFill>
                <a:srgbClr val="FFFBEB"/>
              </a:solidFill>
              <a:latin typeface="Arial" panose="020B0604020202090204"/>
              <a:ea typeface="Arial" panose="020B0604020202090204"/>
              <a:cs typeface="Arial" panose="020B0604020202090204"/>
              <a:sym typeface="Arial" panose="020B0604020202090204"/>
            </a:endParaRPr>
          </a:p>
        </p:txBody>
      </p:sp>
      <p:sp>
        <p:nvSpPr>
          <p:cNvPr id="9" name="AutoShape 8"/>
          <p:cNvSpPr/>
          <p:nvPr/>
        </p:nvSpPr>
        <p:spPr>
          <a:xfrm>
            <a:off x="8482330" y="3975100"/>
            <a:ext cx="3201670" cy="1257300"/>
          </a:xfrm>
          <a:prstGeom prst="roundRect">
            <a:avLst>
              <a:gd name="adj" fmla="val 0"/>
            </a:avLst>
          </a:prstGeom>
          <a:solidFill>
            <a:srgbClr val="DC2626">
              <a:alpha val="100000"/>
            </a:srgbClr>
          </a:solidFill>
          <a:ln w="12700" cap="flat" cmpd="sng">
            <a:solidFill>
              <a:srgbClr val="000000">
                <a:alpha val="100000"/>
              </a:srgbClr>
            </a:solidFill>
            <a:prstDash val="solid"/>
            <a:round/>
          </a:ln>
        </p:spPr>
        <p:txBody>
          <a:bodyPr vert="horz" wrap="square" lIns="127000" tIns="101600" rIns="127000" bIns="101600" rtlCol="0" anchor="ctr" anchorCtr="0"/>
          <a:p>
            <a:pPr marL="0" indent="0" algn="l">
              <a:lnSpc>
                <a:spcPct val="100000"/>
              </a:lnSpc>
              <a:defRPr/>
            </a:pPr>
            <a:r>
              <a:rPr lang="en-US" sz="1600" b="1" i="0" u="none" strike="noStrike">
                <a:solidFill>
                  <a:srgbClr val="FFFFFF"/>
                </a:solidFill>
                <a:latin typeface="Arial" panose="020B0604020202090204"/>
                <a:ea typeface="Arial" panose="020B0604020202090204"/>
                <a:cs typeface="Arial" panose="020B0604020202090204"/>
                <a:sym typeface="Arial" panose="020B0604020202090204"/>
              </a:rPr>
              <a:t>OVERFITTING (RMSE: 0.489)</a:t>
            </a:r>
            <a:endParaRPr lang="en-US" sz="1100"/>
          </a:p>
          <a:p>
            <a:pPr marL="0" indent="0" algn="l">
              <a:lnSpc>
                <a:spcPct val="100000"/>
              </a:lnSpc>
            </a:pPr>
            <a:r>
              <a:rPr lang="en-US" sz="1400" b="0" i="0" u="none" strike="noStrike">
                <a:solidFill>
                  <a:srgbClr val="FEE2E2"/>
                </a:solidFill>
                <a:latin typeface="Arial" panose="020B0604020202090204"/>
                <a:ea typeface="Arial" panose="020B0604020202090204"/>
                <a:cs typeface="Arial" panose="020B0604020202090204"/>
                <a:sym typeface="Arial" panose="020B0604020202090204"/>
              </a:rPr>
              <a:t>Params: No depth limit, min_samples_leaf=1</a:t>
            </a:r>
            <a:endParaRPr lang="en-US" sz="1400" b="0" i="0" u="none" strike="noStrike">
              <a:solidFill>
                <a:srgbClr val="FEE2E2"/>
              </a:solidFill>
              <a:latin typeface="Arial" panose="020B0604020202090204"/>
              <a:ea typeface="Arial" panose="020B0604020202090204"/>
              <a:cs typeface="Arial" panose="020B0604020202090204"/>
              <a:sym typeface="Arial" panose="020B0604020202090204"/>
            </a:endParaRPr>
          </a:p>
          <a:p>
            <a:pPr marL="0" indent="0" algn="l">
              <a:lnSpc>
                <a:spcPct val="100000"/>
              </a:lnSpc>
            </a:pPr>
            <a:r>
              <a:rPr lang="en-US" sz="1400" b="0" i="0" u="none" strike="noStrike">
                <a:solidFill>
                  <a:srgbClr val="FEE2E2"/>
                </a:solidFill>
                <a:latin typeface="Arial" panose="020B0604020202090204"/>
                <a:ea typeface="Arial" panose="020B0604020202090204"/>
                <a:cs typeface="Arial" panose="020B0604020202090204"/>
                <a:sym typeface="Arial" panose="020B0604020202090204"/>
              </a:rPr>
              <a:t>Extremely complex, high variance, poor generalization.</a:t>
            </a:r>
            <a:endParaRPr lang="en-US" sz="1400" b="0" i="0" u="none" strike="noStrike">
              <a:solidFill>
                <a:srgbClr val="FEE2E2"/>
              </a:solidFill>
              <a:latin typeface="Arial" panose="020B0604020202090204"/>
              <a:ea typeface="Arial" panose="020B0604020202090204"/>
              <a:cs typeface="Arial" panose="020B0604020202090204"/>
              <a:sym typeface="Arial" panose="020B0604020202090204"/>
            </a:endParaRPr>
          </a:p>
        </p:txBody>
      </p:sp>
      <p:sp>
        <p:nvSpPr>
          <p:cNvPr id="10" name="圆角矩形 9"/>
          <p:cNvSpPr/>
          <p:nvPr/>
        </p:nvSpPr>
        <p:spPr>
          <a:xfrm>
            <a:off x="4194175" y="1676400"/>
            <a:ext cx="4051300" cy="1841500"/>
          </a:xfrm>
          <a:prstGeom prst="roundRect">
            <a:avLst/>
          </a:prstGeom>
          <a:solidFill>
            <a:schemeClr val="accent1">
              <a:alpha val="0"/>
            </a:schemeClr>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XUANHUI</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17" name="AutoShape 17"/>
          <p:cNvSpPr/>
          <p:nvPr/>
        </p:nvSpPr>
        <p:spPr>
          <a:xfrm>
            <a:off x="11557000" y="6362700"/>
            <a:ext cx="520700" cy="3683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fld id="{C15EB880-546D-4687-B90C-77A843F6E50A}" type="slidenum">
              <a:rPr sz="2000" b="0" i="0" u="none" strike="noStrike">
                <a:solidFill>
                  <a:srgbClr val="898989"/>
                </a:solidFill>
                <a:latin typeface="Arial Narrow" panose="020B0606020202030204"/>
                <a:ea typeface="Arial Narrow" panose="020B0606020202030204"/>
                <a:cs typeface="Arial Narrow" panose="020B0606020202030204"/>
                <a:sym typeface="Arial Narrow" panose="020B0606020202030204"/>
              </a:rPr>
            </a:fld>
            <a:endParaRPr lang="en-US" sz="1100"/>
          </a:p>
        </p:txBody>
      </p:sp>
      <p:sp>
        <p:nvSpPr>
          <p:cNvPr id="2" name="AutoShape 2"/>
          <p:cNvSpPr/>
          <p:nvPr/>
        </p:nvSpPr>
        <p:spPr>
          <a:xfrm>
            <a:off x="0" y="127000"/>
            <a:ext cx="12192000" cy="685800"/>
          </a:xfrm>
          <a:prstGeom prst="rect">
            <a:avLst/>
          </a:prstGeom>
          <a:noFill/>
          <a:ln w="12700" cap="flat" cmpd="sng">
            <a:noFill/>
            <a:prstDash val="solid"/>
            <a:round/>
          </a:ln>
        </p:spPr>
        <p:txBody>
          <a:bodyPr vert="horz" wrap="square" lIns="292100" tIns="50800" rIns="88900" bIns="50800" rtlCol="0" anchor="ctr" anchorCtr="0"/>
          <a:p>
            <a:pPr marL="0" indent="0" algn="l">
              <a:lnSpc>
                <a:spcPct val="125000"/>
              </a:lnSpc>
              <a:defRPr/>
            </a:pPr>
            <a:r>
              <a:rPr lang="en-US" sz="3200" b="1" i="0" u="none" strike="noStrike">
                <a:solidFill>
                  <a:srgbClr val="800000"/>
                </a:solidFill>
                <a:latin typeface="Arial" panose="020B0604020202090204"/>
                <a:ea typeface="Arial" panose="020B0604020202090204"/>
                <a:cs typeface="Arial" panose="020B0604020202090204"/>
                <a:sym typeface="Arial" panose="020B0604020202090204"/>
              </a:rPr>
              <a:t>Learning Curve: Assessing Data Sufficiency</a:t>
            </a:r>
            <a:endParaRPr lang="en-US" sz="1100"/>
          </a:p>
        </p:txBody>
      </p:sp>
      <p:pic>
        <p:nvPicPr>
          <p:cNvPr id="3" name="图片 2" descr="S10_learning_curve"/>
          <p:cNvPicPr>
            <a:picLocks noChangeAspect="1"/>
          </p:cNvPicPr>
          <p:nvPr/>
        </p:nvPicPr>
        <p:blipFill>
          <a:blip r:embed="rId2"/>
          <a:stretch>
            <a:fillRect/>
          </a:stretch>
        </p:blipFill>
        <p:spPr>
          <a:xfrm>
            <a:off x="728980" y="1169035"/>
            <a:ext cx="6383020" cy="4163695"/>
          </a:xfrm>
          <a:prstGeom prst="rect">
            <a:avLst/>
          </a:prstGeom>
        </p:spPr>
      </p:pic>
      <p:sp>
        <p:nvSpPr>
          <p:cNvPr id="8" name="AutoShape 8"/>
          <p:cNvSpPr/>
          <p:nvPr/>
        </p:nvSpPr>
        <p:spPr>
          <a:xfrm>
            <a:off x="7709535" y="2298700"/>
            <a:ext cx="3402330" cy="1524000"/>
          </a:xfrm>
          <a:prstGeom prst="roundRect">
            <a:avLst>
              <a:gd name="adj" fmla="val 0"/>
            </a:avLst>
          </a:prstGeom>
          <a:solidFill>
            <a:srgbClr val="FFF8E1">
              <a:alpha val="100000"/>
            </a:srgbClr>
          </a:solidFill>
          <a:ln w="12700" cap="flat" cmpd="sng">
            <a:solidFill>
              <a:srgbClr val="F59E0B">
                <a:alpha val="100000"/>
              </a:srgbClr>
            </a:solidFill>
            <a:prstDash val="solid"/>
            <a:round/>
          </a:ln>
        </p:spPr>
        <p:txBody>
          <a:bodyPr vert="horz" wrap="square" lIns="127000" tIns="127000" rIns="127000" bIns="127000" rtlCol="0" anchor="ctr" anchorCtr="0"/>
          <a:p>
            <a:pPr marL="0" indent="0" algn="ctr">
              <a:lnSpc>
                <a:spcPct val="125000"/>
              </a:lnSpc>
            </a:pPr>
            <a:r>
              <a:rPr lang="en-US">
                <a:solidFill>
                  <a:srgbClr val="595959"/>
                </a:solidFill>
                <a:latin typeface="Noto Sans SC"/>
                <a:ea typeface="Noto Sans SC"/>
                <a:cs typeface="Noto Sans SC"/>
                <a:sym typeface="Noto Sans SC"/>
              </a:rPr>
              <a:t>Validation RMSE</a:t>
            </a:r>
            <a:endParaRPr lang="en-US"/>
          </a:p>
          <a:p>
            <a:pPr marL="0" indent="0" algn="ctr">
              <a:lnSpc>
                <a:spcPct val="125000"/>
              </a:lnSpc>
            </a:pPr>
            <a:r>
              <a:rPr lang="en-US" sz="1600" b="1">
                <a:solidFill>
                  <a:srgbClr val="800000"/>
                </a:solidFill>
                <a:latin typeface="Noto Sans SC"/>
                <a:ea typeface="Noto Sans SC"/>
                <a:cs typeface="Noto Sans SC"/>
                <a:sym typeface="Noto Sans SC"/>
              </a:rPr>
              <a:t>0.526 </a:t>
            </a:r>
            <a:r>
              <a:rPr lang="en-US" sz="1600">
                <a:solidFill>
                  <a:srgbClr val="4B5563"/>
                </a:solidFill>
                <a:latin typeface="Noto Sans SC"/>
                <a:ea typeface="Noto Sans SC"/>
                <a:cs typeface="Noto Sans SC"/>
                <a:sym typeface="Noto Sans SC"/>
              </a:rPr>
              <a:t>→ </a:t>
            </a:r>
            <a:r>
              <a:rPr lang="en-US" sz="1600" b="1">
                <a:solidFill>
                  <a:srgbClr val="16A34A"/>
                </a:solidFill>
                <a:latin typeface="Noto Sans SC"/>
                <a:ea typeface="Noto Sans SC"/>
                <a:cs typeface="Noto Sans SC"/>
                <a:sym typeface="Noto Sans SC"/>
              </a:rPr>
              <a:t>0.476</a:t>
            </a:r>
            <a:endParaRPr lang="en-US" sz="1600" b="1" i="0" u="none" strike="noStrike">
              <a:solidFill>
                <a:srgbClr val="16A34A"/>
              </a:solidFill>
              <a:latin typeface="Noto Sans SC"/>
              <a:ea typeface="Noto Sans SC"/>
              <a:cs typeface="Noto Sans SC"/>
              <a:sym typeface="Noto Sans SC"/>
            </a:endParaRPr>
          </a:p>
          <a:p>
            <a:pPr marL="0" indent="0" algn="ctr">
              <a:lnSpc>
                <a:spcPct val="125000"/>
              </a:lnSpc>
              <a:defRPr/>
            </a:pPr>
            <a:r>
              <a:rPr lang="en-US" sz="1600">
                <a:solidFill>
                  <a:srgbClr val="595959"/>
                </a:solidFill>
                <a:latin typeface="Noto Sans SC"/>
                <a:ea typeface="Noto Sans SC"/>
                <a:cs typeface="Noto Sans SC"/>
                <a:sym typeface="Noto Sans SC"/>
              </a:rPr>
              <a:t>Gain</a:t>
            </a:r>
            <a:endParaRPr lang="en-US" sz="1600"/>
          </a:p>
          <a:p>
            <a:pPr marL="0" indent="0" algn="ctr">
              <a:lnSpc>
                <a:spcPct val="125000"/>
              </a:lnSpc>
            </a:pPr>
            <a:r>
              <a:rPr lang="en-US" sz="1600" b="1">
                <a:solidFill>
                  <a:srgbClr val="F59E0B"/>
                </a:solidFill>
                <a:latin typeface="Noto Sans SC"/>
                <a:ea typeface="Noto Sans SC"/>
                <a:cs typeface="Noto Sans SC"/>
                <a:sym typeface="Noto Sans SC"/>
              </a:rPr>
              <a:t>~9.5%</a:t>
            </a:r>
            <a:endParaRPr lang="en-US" sz="1600" b="1" i="0" u="none" strike="noStrike">
              <a:solidFill>
                <a:srgbClr val="F59E0B"/>
              </a:solidFill>
              <a:latin typeface="Noto Sans SC"/>
              <a:ea typeface="Noto Sans SC"/>
              <a:cs typeface="Noto Sans SC"/>
              <a:sym typeface="Noto Sans SC"/>
            </a:endParaRPr>
          </a:p>
        </p:txBody>
      </p:sp>
      <p:sp>
        <p:nvSpPr>
          <p:cNvPr id="4" name="文本框 3"/>
          <p:cNvSpPr txBox="1"/>
          <p:nvPr/>
        </p:nvSpPr>
        <p:spPr>
          <a:xfrm>
            <a:off x="1511935" y="5485130"/>
            <a:ext cx="9232265" cy="583565"/>
          </a:xfrm>
          <a:prstGeom prst="rect">
            <a:avLst/>
          </a:prstGeom>
        </p:spPr>
        <p:txBody>
          <a:bodyPr wrap="square">
            <a:spAutoFit/>
          </a:bodyPr>
          <a:p>
            <a:r>
              <a:rPr lang="en-US" altLang="zh-CN" sz="1600"/>
              <a:t>The dataset size is sufficient to observe stable trends. Further performance improvement is more likely to come from new, interpretable features, rather than adding more similar records.</a:t>
            </a:r>
            <a:endParaRPr lang="en-US" altLang="zh-CN" sz="1600"/>
          </a:p>
        </p:txBody>
      </p:sp>
      <p:sp>
        <p:nvSpPr>
          <p:cNvPr id="5"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YAODONG</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600" b="1">
                <a:solidFill>
                  <a:srgbClr val="262626"/>
                </a:solidFill>
                <a:latin typeface="Arial" panose="020B0604020202090204"/>
              </a:rPr>
              <a:t>Overall metrics improve, but predictions shrink toward the middle</a:t>
            </a:r>
            <a:endParaRPr sz="26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11</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347472" y="850392"/>
            <a:ext cx="6629400" cy="3410712"/>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11_actual_vs_predicted_hexbin.png"/>
          <p:cNvPicPr>
            <a:picLocks noChangeAspect="1"/>
          </p:cNvPicPr>
          <p:nvPr/>
        </p:nvPicPr>
        <p:blipFill>
          <a:blip r:embed="rId2"/>
          <a:stretch>
            <a:fillRect/>
          </a:stretch>
        </p:blipFill>
        <p:spPr>
          <a:xfrm>
            <a:off x="1669672" y="886968"/>
            <a:ext cx="3984999" cy="3337560"/>
          </a:xfrm>
          <a:prstGeom prst="rect">
            <a:avLst/>
          </a:prstGeom>
        </p:spPr>
      </p:pic>
      <p:sp>
        <p:nvSpPr>
          <p:cNvPr id="33" name="Rounded Rectangle 32"/>
          <p:cNvSpPr/>
          <p:nvPr/>
        </p:nvSpPr>
        <p:spPr>
          <a:xfrm>
            <a:off x="7205472" y="932688"/>
            <a:ext cx="1325880" cy="667512"/>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Holdout test</a:t>
            </a:r>
            <a:endParaRPr sz="1150">
              <a:solidFill>
                <a:srgbClr val="5F5F5F"/>
              </a:solidFill>
              <a:latin typeface="Arial" panose="020B0604020202090204"/>
            </a:endParaRPr>
          </a:p>
          <a:p>
            <a:r>
              <a:rPr sz="2100" b="1">
                <a:solidFill>
                  <a:srgbClr val="003D7C"/>
                </a:solidFill>
                <a:latin typeface="Arial" panose="020B0604020202090204"/>
              </a:rPr>
              <a:t>1,798</a:t>
            </a:r>
            <a:endParaRPr sz="2100" b="1">
              <a:solidFill>
                <a:srgbClr val="003D7C"/>
              </a:solidFill>
              <a:latin typeface="Arial" panose="020B0604020202090204"/>
            </a:endParaRPr>
          </a:p>
        </p:txBody>
      </p:sp>
      <p:sp>
        <p:nvSpPr>
          <p:cNvPr id="34" name="Rounded Rectangle 33"/>
          <p:cNvSpPr/>
          <p:nvPr/>
        </p:nvSpPr>
        <p:spPr>
          <a:xfrm>
            <a:off x="8686800" y="932688"/>
            <a:ext cx="1143000" cy="667512"/>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MAE</a:t>
            </a:r>
            <a:endParaRPr sz="1150">
              <a:solidFill>
                <a:srgbClr val="5F5F5F"/>
              </a:solidFill>
              <a:latin typeface="Arial" panose="020B0604020202090204"/>
            </a:endParaRPr>
          </a:p>
          <a:p>
            <a:r>
              <a:rPr sz="2100" b="1">
                <a:solidFill>
                  <a:srgbClr val="24834B"/>
                </a:solidFill>
                <a:latin typeface="Arial" panose="020B0604020202090204"/>
              </a:rPr>
              <a:t>0.332</a:t>
            </a:r>
            <a:endParaRPr sz="2100" b="1">
              <a:solidFill>
                <a:srgbClr val="24834B"/>
              </a:solidFill>
              <a:latin typeface="Arial" panose="020B0604020202090204"/>
            </a:endParaRPr>
          </a:p>
        </p:txBody>
      </p:sp>
      <p:sp>
        <p:nvSpPr>
          <p:cNvPr id="35" name="Rounded Rectangle 34"/>
          <p:cNvSpPr/>
          <p:nvPr/>
        </p:nvSpPr>
        <p:spPr>
          <a:xfrm>
            <a:off x="9985248" y="932688"/>
            <a:ext cx="1143000" cy="667512"/>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RMSE</a:t>
            </a:r>
            <a:endParaRPr sz="1150">
              <a:solidFill>
                <a:srgbClr val="5F5F5F"/>
              </a:solidFill>
              <a:latin typeface="Arial" panose="020B0604020202090204"/>
            </a:endParaRPr>
          </a:p>
          <a:p>
            <a:r>
              <a:rPr sz="2100" b="1">
                <a:solidFill>
                  <a:srgbClr val="24834B"/>
                </a:solidFill>
                <a:latin typeface="Arial" panose="020B0604020202090204"/>
              </a:rPr>
              <a:t>0.495</a:t>
            </a:r>
            <a:endParaRPr sz="2100" b="1">
              <a:solidFill>
                <a:srgbClr val="24834B"/>
              </a:solidFill>
              <a:latin typeface="Arial" panose="020B0604020202090204"/>
            </a:endParaRPr>
          </a:p>
        </p:txBody>
      </p:sp>
      <p:sp>
        <p:nvSpPr>
          <p:cNvPr id="36" name="Rounded Rectangle 35"/>
          <p:cNvSpPr/>
          <p:nvPr/>
        </p:nvSpPr>
        <p:spPr>
          <a:xfrm>
            <a:off x="7205472" y="1783080"/>
            <a:ext cx="1325880" cy="667512"/>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R²</a:t>
            </a:r>
            <a:endParaRPr sz="1150">
              <a:solidFill>
                <a:srgbClr val="5F5F5F"/>
              </a:solidFill>
              <a:latin typeface="Arial" panose="020B0604020202090204"/>
            </a:endParaRPr>
          </a:p>
          <a:p>
            <a:r>
              <a:rPr sz="2100" b="1">
                <a:solidFill>
                  <a:srgbClr val="C8102E"/>
                </a:solidFill>
                <a:latin typeface="Arial" panose="020B0604020202090204"/>
              </a:rPr>
              <a:t>0.156</a:t>
            </a:r>
            <a:endParaRPr sz="2100" b="1">
              <a:solidFill>
                <a:srgbClr val="C8102E"/>
              </a:solidFill>
              <a:latin typeface="Arial" panose="020B0604020202090204"/>
            </a:endParaRPr>
          </a:p>
        </p:txBody>
      </p:sp>
      <p:sp>
        <p:nvSpPr>
          <p:cNvPr id="37" name="Rounded Rectangle 36"/>
          <p:cNvSpPr/>
          <p:nvPr/>
        </p:nvSpPr>
        <p:spPr>
          <a:xfrm>
            <a:off x="8686800" y="1783080"/>
            <a:ext cx="2450592" cy="1472184"/>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S11_residual_distribution.png"/>
          <p:cNvPicPr>
            <a:picLocks noChangeAspect="1"/>
          </p:cNvPicPr>
          <p:nvPr/>
        </p:nvPicPr>
        <p:blipFill>
          <a:blip r:embed="rId3"/>
          <a:stretch>
            <a:fillRect/>
          </a:stretch>
        </p:blipFill>
        <p:spPr>
          <a:xfrm>
            <a:off x="8856423" y="1819656"/>
            <a:ext cx="2111344" cy="1399032"/>
          </a:xfrm>
          <a:prstGeom prst="rect">
            <a:avLst/>
          </a:prstGeom>
        </p:spPr>
      </p:pic>
      <p:sp>
        <p:nvSpPr>
          <p:cNvPr id="39" name="Rounded Rectangle 38"/>
          <p:cNvSpPr/>
          <p:nvPr/>
        </p:nvSpPr>
        <p:spPr>
          <a:xfrm>
            <a:off x="7205472" y="3438144"/>
            <a:ext cx="3931920" cy="640080"/>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400" b="1">
                <a:solidFill>
                  <a:srgbClr val="262626"/>
                </a:solidFill>
                <a:latin typeface="Arial" panose="020B0604020202090204"/>
              </a:rPr>
              <a:t>Visible store metadata explains only a small share of Rating variation.</a:t>
            </a:r>
            <a:endParaRPr sz="1400" b="1">
              <a:solidFill>
                <a:srgbClr val="262626"/>
              </a:solidFill>
              <a:latin typeface="Arial" panose="020B0604020202090204"/>
            </a:endParaRPr>
          </a:p>
        </p:txBody>
      </p:sp>
      <p:sp>
        <p:nvSpPr>
          <p:cNvPr id="40" name="Rectangle 39"/>
          <p:cNvSpPr/>
          <p:nvPr/>
        </p:nvSpPr>
        <p:spPr>
          <a:xfrm>
            <a:off x="7205472" y="3438144"/>
            <a:ext cx="54864" cy="6400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YAODONG</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800" b="1">
                <a:solidFill>
                  <a:srgbClr val="262626"/>
                </a:solidFill>
                <a:latin typeface="Arial" panose="020B0604020202090204"/>
              </a:rPr>
              <a:t>Average RMSE hides the real failure point: extreme ratings</a:t>
            </a:r>
            <a:endParaRPr sz="28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12</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365760" y="932688"/>
            <a:ext cx="5577840" cy="2834640"/>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12_actual_predicted_by_rating_band_dumbbell.png"/>
          <p:cNvPicPr>
            <a:picLocks noChangeAspect="1"/>
          </p:cNvPicPr>
          <p:nvPr/>
        </p:nvPicPr>
        <p:blipFill>
          <a:blip r:embed="rId2"/>
          <a:stretch>
            <a:fillRect/>
          </a:stretch>
        </p:blipFill>
        <p:spPr>
          <a:xfrm>
            <a:off x="943735" y="969264"/>
            <a:ext cx="4421888" cy="2761488"/>
          </a:xfrm>
          <a:prstGeom prst="rect">
            <a:avLst/>
          </a:prstGeom>
        </p:spPr>
      </p:pic>
      <p:sp>
        <p:nvSpPr>
          <p:cNvPr id="33" name="Rounded Rectangle 32"/>
          <p:cNvSpPr/>
          <p:nvPr/>
        </p:nvSpPr>
        <p:spPr>
          <a:xfrm>
            <a:off x="6217920" y="932688"/>
            <a:ext cx="4919472" cy="2834640"/>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12_error_by_rating_band_connected_dot.png"/>
          <p:cNvPicPr>
            <a:picLocks noChangeAspect="1"/>
          </p:cNvPicPr>
          <p:nvPr/>
        </p:nvPicPr>
        <p:blipFill>
          <a:blip r:embed="rId3"/>
          <a:stretch>
            <a:fillRect/>
          </a:stretch>
        </p:blipFill>
        <p:spPr>
          <a:xfrm>
            <a:off x="6621724" y="969264"/>
            <a:ext cx="4111863" cy="2761488"/>
          </a:xfrm>
          <a:prstGeom prst="rect">
            <a:avLst/>
          </a:prstGeom>
        </p:spPr>
      </p:pic>
      <p:sp>
        <p:nvSpPr>
          <p:cNvPr id="35" name="Rounded Rectangle 34"/>
          <p:cNvSpPr/>
          <p:nvPr/>
        </p:nvSpPr>
        <p:spPr>
          <a:xfrm>
            <a:off x="685800" y="3867912"/>
            <a:ext cx="5074920" cy="47548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300" b="1">
                <a:solidFill>
                  <a:srgbClr val="262626"/>
                </a:solidFill>
                <a:latin typeface="Arial" panose="020B0604020202090204"/>
              </a:rPr>
              <a:t>≤3.5: actual mean ≈ 2.99 → predicted mean ≈ 4.03; MAE ≈ 1.039.</a:t>
            </a:r>
            <a:endParaRPr sz="1300" b="1">
              <a:solidFill>
                <a:srgbClr val="262626"/>
              </a:solidFill>
              <a:latin typeface="Arial" panose="020B0604020202090204"/>
            </a:endParaRPr>
          </a:p>
        </p:txBody>
      </p:sp>
      <p:sp>
        <p:nvSpPr>
          <p:cNvPr id="36" name="Rectangle 35"/>
          <p:cNvSpPr/>
          <p:nvPr/>
        </p:nvSpPr>
        <p:spPr>
          <a:xfrm>
            <a:off x="685800" y="3867912"/>
            <a:ext cx="54864" cy="4754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72784" y="3867912"/>
            <a:ext cx="4754880" cy="475488"/>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300" b="1">
                <a:solidFill>
                  <a:srgbClr val="262626"/>
                </a:solidFill>
                <a:latin typeface="Arial" panose="020B0604020202090204"/>
              </a:rPr>
              <a:t>4.1–4.4: MAE ≈ 0.154 — the model is strongest in the dense middle.</a:t>
            </a:r>
            <a:endParaRPr sz="1300" b="1">
              <a:solidFill>
                <a:srgbClr val="262626"/>
              </a:solidFill>
              <a:latin typeface="Arial" panose="020B0604020202090204"/>
            </a:endParaRPr>
          </a:p>
        </p:txBody>
      </p:sp>
      <p:sp>
        <p:nvSpPr>
          <p:cNvPr id="38" name="Rectangle 37"/>
          <p:cNvSpPr/>
          <p:nvPr/>
        </p:nvSpPr>
        <p:spPr>
          <a:xfrm>
            <a:off x="6272784" y="3867912"/>
            <a:ext cx="54864" cy="475488"/>
          </a:xfrm>
          <a:prstGeom prst="rect">
            <a:avLst/>
          </a:prstGeom>
          <a:solidFill>
            <a:srgbClr val="248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YAODONG</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600" b="1">
                <a:solidFill>
                  <a:srgbClr val="262626"/>
                </a:solidFill>
                <a:latin typeface="Arial" panose="020B0604020202090204"/>
              </a:rPr>
              <a:t>The model depends on Reviews / Installs—and is unreliable at low exposure</a:t>
            </a:r>
            <a:endParaRPr sz="26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13</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pic>
        <p:nvPicPr>
          <p:cNvPr id="32" name="Picture 31" descr="S13_permutation_importance_lollipop.png"/>
          <p:cNvPicPr>
            <a:picLocks noChangeAspect="1"/>
          </p:cNvPicPr>
          <p:nvPr/>
        </p:nvPicPr>
        <p:blipFill>
          <a:blip r:embed="rId2"/>
          <a:stretch>
            <a:fillRect/>
          </a:stretch>
        </p:blipFill>
        <p:spPr>
          <a:xfrm>
            <a:off x="430241" y="584645"/>
            <a:ext cx="5511859" cy="3466148"/>
          </a:xfrm>
          <a:prstGeom prst="rect">
            <a:avLst/>
          </a:prstGeom>
        </p:spPr>
      </p:pic>
      <p:pic>
        <p:nvPicPr>
          <p:cNvPr id="34" name="Picture 33" descr="S13_rmse_by_review_band.png"/>
          <p:cNvPicPr>
            <a:picLocks noChangeAspect="1"/>
          </p:cNvPicPr>
          <p:nvPr/>
        </p:nvPicPr>
        <p:blipFill>
          <a:blip r:embed="rId3"/>
          <a:stretch>
            <a:fillRect/>
          </a:stretch>
        </p:blipFill>
        <p:spPr>
          <a:xfrm>
            <a:off x="6981564" y="346661"/>
            <a:ext cx="3188467" cy="2143996"/>
          </a:xfrm>
          <a:prstGeom prst="rect">
            <a:avLst/>
          </a:prstGeom>
        </p:spPr>
      </p:pic>
      <p:pic>
        <p:nvPicPr>
          <p:cNvPr id="36" name="Picture 35" descr="S13_rmse_by_install_band.png"/>
          <p:cNvPicPr>
            <a:picLocks noChangeAspect="1"/>
          </p:cNvPicPr>
          <p:nvPr/>
        </p:nvPicPr>
        <p:blipFill>
          <a:blip r:embed="rId4"/>
          <a:stretch>
            <a:fillRect/>
          </a:stretch>
        </p:blipFill>
        <p:spPr>
          <a:xfrm>
            <a:off x="7449542" y="2535998"/>
            <a:ext cx="2252510" cy="1551370"/>
          </a:xfrm>
          <a:prstGeom prst="rect">
            <a:avLst/>
          </a:prstGeom>
        </p:spPr>
      </p:pic>
      <p:sp>
        <p:nvSpPr>
          <p:cNvPr id="37" name="TextBox 36"/>
          <p:cNvSpPr txBox="1"/>
          <p:nvPr/>
        </p:nvSpPr>
        <p:spPr>
          <a:xfrm>
            <a:off x="594360" y="4105656"/>
            <a:ext cx="4663440" cy="274320"/>
          </a:xfrm>
          <a:prstGeom prst="rect">
            <a:avLst/>
          </a:prstGeom>
          <a:noFill/>
        </p:spPr>
        <p:txBody>
          <a:bodyPr wrap="none" lIns="54864" tIns="54864" rIns="54864" bIns="54864" anchor="ctr">
            <a:spAutoFit/>
          </a:bodyPr>
          <a:lstStyle/>
          <a:p>
            <a:pPr algn="ctr"/>
            <a:r>
              <a:rPr sz="1200" b="0">
                <a:solidFill>
                  <a:srgbClr val="5F5F5F"/>
                </a:solidFill>
                <a:latin typeface="Arial" panose="020B0604020202090204"/>
              </a:rPr>
              <a:t>Permutation importance is predictive, not causal.</a:t>
            </a:r>
            <a:endParaRPr sz="1200" b="0">
              <a:solidFill>
                <a:srgbClr val="5F5F5F"/>
              </a:solidFill>
              <a:latin typeface="Arial" panose="020B0604020202090204"/>
            </a:endParaRPr>
          </a:p>
        </p:txBody>
      </p:sp>
      <p:sp>
        <p:nvSpPr>
          <p:cNvPr id="38" name="TextBox 37"/>
          <p:cNvSpPr txBox="1"/>
          <p:nvPr/>
        </p:nvSpPr>
        <p:spPr>
          <a:xfrm>
            <a:off x="5833872" y="4105656"/>
            <a:ext cx="5074920" cy="274320"/>
          </a:xfrm>
          <a:prstGeom prst="rect">
            <a:avLst/>
          </a:prstGeom>
          <a:noFill/>
        </p:spPr>
        <p:txBody>
          <a:bodyPr wrap="none" lIns="54864" tIns="54864" rIns="54864" bIns="54864" anchor="ctr">
            <a:spAutoFit/>
          </a:bodyPr>
          <a:lstStyle/>
          <a:p>
            <a:pPr algn="ctr"/>
            <a:r>
              <a:rPr sz="1200" b="1">
                <a:solidFill>
                  <a:srgbClr val="C8102E"/>
                </a:solidFill>
                <a:latin typeface="Arial" panose="020B0604020202090204"/>
              </a:rPr>
              <a:t>Reviews &lt;10: RMSE ≈ 1.054   |   Installs &lt;1k: RMSE ≈ 0.963</a:t>
            </a:r>
            <a:endParaRPr sz="1200" b="1">
              <a:solidFill>
                <a:srgbClr val="C8102E"/>
              </a:solidFill>
              <a:latin typeface="Arial" panose="020B0604020202090204"/>
            </a:endParaRPr>
          </a:p>
        </p:txBody>
      </p:sp>
      <p:sp>
        <p:nvSpPr>
          <p:cNvPr id="6"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a:t>
            </a:r>
            <a:r>
              <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YAODONG</a:t>
            </a:r>
            <a:endParaRPr kumimoji="0" lang="en-US"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600" b="1">
                <a:solidFill>
                  <a:srgbClr val="262626"/>
                </a:solidFill>
                <a:latin typeface="Arial" panose="020B0604020202090204"/>
              </a:rPr>
              <a:t>As review evidence grows, “perfect” 5-star ratings almost disappear</a:t>
            </a:r>
            <a:endParaRPr sz="26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14</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365760" y="932688"/>
            <a:ext cx="3401568" cy="1572768"/>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14_fivestar_share_by_review_band.png"/>
          <p:cNvPicPr>
            <a:picLocks noChangeAspect="1"/>
          </p:cNvPicPr>
          <p:nvPr/>
        </p:nvPicPr>
        <p:blipFill>
          <a:blip r:embed="rId2"/>
          <a:stretch>
            <a:fillRect/>
          </a:stretch>
        </p:blipFill>
        <p:spPr>
          <a:xfrm>
            <a:off x="905966" y="969264"/>
            <a:ext cx="2321154" cy="1499616"/>
          </a:xfrm>
          <a:prstGeom prst="rect">
            <a:avLst/>
          </a:prstGeom>
        </p:spPr>
      </p:pic>
      <p:sp>
        <p:nvSpPr>
          <p:cNvPr id="33" name="Rounded Rectangle 32"/>
          <p:cNvSpPr/>
          <p:nvPr/>
        </p:nvSpPr>
        <p:spPr>
          <a:xfrm>
            <a:off x="365760" y="2697480"/>
            <a:ext cx="3401568" cy="1572768"/>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14_rating_sd_by_review_band.png"/>
          <p:cNvPicPr>
            <a:picLocks noChangeAspect="1"/>
          </p:cNvPicPr>
          <p:nvPr/>
        </p:nvPicPr>
        <p:blipFill>
          <a:blip r:embed="rId3"/>
          <a:stretch>
            <a:fillRect/>
          </a:stretch>
        </p:blipFill>
        <p:spPr>
          <a:xfrm>
            <a:off x="898121" y="2734056"/>
            <a:ext cx="2336845" cy="1499616"/>
          </a:xfrm>
          <a:prstGeom prst="rect">
            <a:avLst/>
          </a:prstGeom>
        </p:spPr>
      </p:pic>
      <p:sp>
        <p:nvSpPr>
          <p:cNvPr id="35" name="Rounded Rectangle 34"/>
          <p:cNvSpPr/>
          <p:nvPr/>
        </p:nvSpPr>
        <p:spPr>
          <a:xfrm>
            <a:off x="4005072" y="932688"/>
            <a:ext cx="7086600" cy="2743200"/>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14_rating_band_composition_by_review_band.png"/>
          <p:cNvPicPr>
            <a:picLocks noChangeAspect="1"/>
          </p:cNvPicPr>
          <p:nvPr/>
        </p:nvPicPr>
        <p:blipFill>
          <a:blip r:embed="rId4"/>
          <a:stretch>
            <a:fillRect/>
          </a:stretch>
        </p:blipFill>
        <p:spPr>
          <a:xfrm>
            <a:off x="5663284" y="969264"/>
            <a:ext cx="3770175" cy="2670048"/>
          </a:xfrm>
          <a:prstGeom prst="rect">
            <a:avLst/>
          </a:prstGeom>
        </p:spPr>
      </p:pic>
      <p:sp>
        <p:nvSpPr>
          <p:cNvPr id="37" name="Rounded Rectangle 36"/>
          <p:cNvSpPr/>
          <p:nvPr/>
        </p:nvSpPr>
        <p:spPr>
          <a:xfrm>
            <a:off x="4160520" y="3794760"/>
            <a:ext cx="1417320" cy="566928"/>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&lt;10 Reviews</a:t>
            </a:r>
            <a:endParaRPr sz="1150">
              <a:solidFill>
                <a:srgbClr val="5F5F5F"/>
              </a:solidFill>
              <a:latin typeface="Arial" panose="020B0604020202090204"/>
            </a:endParaRPr>
          </a:p>
          <a:p>
            <a:r>
              <a:rPr sz="2100" b="1">
                <a:solidFill>
                  <a:srgbClr val="C8102E"/>
                </a:solidFill>
                <a:latin typeface="Arial" panose="020B0604020202090204"/>
              </a:rPr>
              <a:t>36.6%</a:t>
            </a:r>
            <a:endParaRPr sz="2100" b="1">
              <a:solidFill>
                <a:srgbClr val="C8102E"/>
              </a:solidFill>
              <a:latin typeface="Arial" panose="020B0604020202090204"/>
            </a:endParaRPr>
          </a:p>
        </p:txBody>
      </p:sp>
      <p:sp>
        <p:nvSpPr>
          <p:cNvPr id="38" name="Rounded Rectangle 37"/>
          <p:cNvSpPr/>
          <p:nvPr/>
        </p:nvSpPr>
        <p:spPr>
          <a:xfrm>
            <a:off x="5742432" y="3794760"/>
            <a:ext cx="1298448" cy="566928"/>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100–999</a:t>
            </a:r>
            <a:endParaRPr sz="1150">
              <a:solidFill>
                <a:srgbClr val="5F5F5F"/>
              </a:solidFill>
              <a:latin typeface="Arial" panose="020B0604020202090204"/>
            </a:endParaRPr>
          </a:p>
          <a:p>
            <a:r>
              <a:rPr sz="2100" b="1">
                <a:solidFill>
                  <a:srgbClr val="003D7C"/>
                </a:solidFill>
                <a:latin typeface="Arial" panose="020B0604020202090204"/>
              </a:rPr>
              <a:t>0.27%</a:t>
            </a:r>
            <a:endParaRPr sz="2100" b="1">
              <a:solidFill>
                <a:srgbClr val="003D7C"/>
              </a:solidFill>
              <a:latin typeface="Arial" panose="020B0604020202090204"/>
            </a:endParaRPr>
          </a:p>
        </p:txBody>
      </p:sp>
      <p:sp>
        <p:nvSpPr>
          <p:cNvPr id="39" name="Rounded Rectangle 38"/>
          <p:cNvSpPr/>
          <p:nvPr/>
        </p:nvSpPr>
        <p:spPr>
          <a:xfrm>
            <a:off x="7205472" y="3794760"/>
            <a:ext cx="1143000" cy="566928"/>
          </a:xfrm>
          <a:prstGeom prst="roundRect">
            <a:avLst/>
          </a:prstGeom>
          <a:solidFill>
            <a:srgbClr val="F6F7F9"/>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lIns="73152" tIns="54864" rIns="73152" rtlCol="0" anchor="ctr"/>
          <a:lstStyle/>
          <a:p>
            <a:pPr algn="ctr"/>
            <a:r>
              <a:rPr sz="1150">
                <a:solidFill>
                  <a:srgbClr val="5F5F5F"/>
                </a:solidFill>
                <a:latin typeface="Arial" panose="020B0604020202090204"/>
              </a:rPr>
              <a:t>≥1,000</a:t>
            </a:r>
            <a:endParaRPr sz="1150">
              <a:solidFill>
                <a:srgbClr val="5F5F5F"/>
              </a:solidFill>
              <a:latin typeface="Arial" panose="020B0604020202090204"/>
            </a:endParaRPr>
          </a:p>
          <a:p>
            <a:r>
              <a:rPr sz="2100" b="1">
                <a:solidFill>
                  <a:srgbClr val="24834B"/>
                </a:solidFill>
                <a:latin typeface="Arial" panose="020B0604020202090204"/>
              </a:rPr>
              <a:t>0%</a:t>
            </a:r>
            <a:endParaRPr sz="2100" b="1">
              <a:solidFill>
                <a:srgbClr val="24834B"/>
              </a:solidFill>
              <a:latin typeface="Arial" panose="020B0604020202090204"/>
            </a:endParaRPr>
          </a:p>
        </p:txBody>
      </p:sp>
      <p:sp>
        <p:nvSpPr>
          <p:cNvPr id="40" name="Rounded Rectangle 39"/>
          <p:cNvSpPr/>
          <p:nvPr/>
        </p:nvSpPr>
        <p:spPr>
          <a:xfrm>
            <a:off x="8549640" y="3794760"/>
            <a:ext cx="2542032" cy="56692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150" b="1">
                <a:solidFill>
                  <a:srgbClr val="262626"/>
                </a:solidFill>
                <a:latin typeface="Arial" panose="020B0604020202090204"/>
              </a:rPr>
              <a:t>A 5-star Rating can be a small-sample result. Read Rating together with Reviews.</a:t>
            </a:r>
            <a:endParaRPr sz="1150" b="1">
              <a:solidFill>
                <a:srgbClr val="262626"/>
              </a:solidFill>
              <a:latin typeface="Arial" panose="020B0604020202090204"/>
            </a:endParaRPr>
          </a:p>
        </p:txBody>
      </p:sp>
      <p:sp>
        <p:nvSpPr>
          <p:cNvPr id="41" name="Rectangle 40"/>
          <p:cNvSpPr/>
          <p:nvPr/>
        </p:nvSpPr>
        <p:spPr>
          <a:xfrm>
            <a:off x="8549640" y="3794760"/>
            <a:ext cx="54864" cy="5669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3"/>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YUTONG</a:t>
            </a:r>
            <a:endPar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800" b="1">
                <a:solidFill>
                  <a:srgbClr val="262626"/>
                </a:solidFill>
                <a:latin typeface="Arial" panose="020B0604020202090204"/>
              </a:rPr>
              <a:t>The same Rating can correspond to four different market states</a:t>
            </a:r>
            <a:endParaRPr sz="28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15</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365760" y="914400"/>
            <a:ext cx="7040880" cy="3346704"/>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15_rating_exposure_quadrant_scatter.png"/>
          <p:cNvPicPr>
            <a:picLocks noChangeAspect="1"/>
          </p:cNvPicPr>
          <p:nvPr/>
        </p:nvPicPr>
        <p:blipFill>
          <a:blip r:embed="rId2"/>
          <a:stretch>
            <a:fillRect/>
          </a:stretch>
        </p:blipFill>
        <p:spPr>
          <a:xfrm>
            <a:off x="1665567" y="950976"/>
            <a:ext cx="4441264" cy="3273552"/>
          </a:xfrm>
          <a:prstGeom prst="rect">
            <a:avLst/>
          </a:prstGeom>
        </p:spPr>
      </p:pic>
      <p:sp>
        <p:nvSpPr>
          <p:cNvPr id="33" name="Rounded Rectangle 32"/>
          <p:cNvSpPr/>
          <p:nvPr/>
        </p:nvSpPr>
        <p:spPr>
          <a:xfrm>
            <a:off x="7699248" y="1024128"/>
            <a:ext cx="1572768" cy="1115568"/>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tIns="64008" rtlCol="0" anchor="ctr"/>
          <a:lstStyle/>
          <a:p>
            <a:pPr algn="ctr"/>
            <a:r>
              <a:rPr sz="1200" b="1">
                <a:solidFill>
                  <a:srgbClr val="24834B"/>
                </a:solidFill>
                <a:latin typeface="Arial" panose="020B0604020202090204"/>
              </a:rPr>
              <a:t>Market Leaders</a:t>
            </a:r>
            <a:endParaRPr sz="1200" b="1">
              <a:solidFill>
                <a:srgbClr val="24834B"/>
              </a:solidFill>
              <a:latin typeface="Arial" panose="020B0604020202090204"/>
            </a:endParaRPr>
          </a:p>
          <a:p>
            <a:r>
              <a:rPr sz="2100" b="1">
                <a:solidFill>
                  <a:srgbClr val="262626"/>
                </a:solidFill>
                <a:latin typeface="Arial" panose="020B0604020202090204"/>
              </a:rPr>
              <a:t>33.4%</a:t>
            </a:r>
            <a:endParaRPr sz="2100" b="1">
              <a:solidFill>
                <a:srgbClr val="262626"/>
              </a:solidFill>
              <a:latin typeface="Arial" panose="020B0604020202090204"/>
            </a:endParaRPr>
          </a:p>
          <a:p>
            <a:r>
              <a:rPr sz="930">
                <a:solidFill>
                  <a:srgbClr val="5F5F5F"/>
                </a:solidFill>
                <a:latin typeface="Arial" panose="020B0604020202090204"/>
              </a:rPr>
              <a:t>High Rating / High Exposure</a:t>
            </a:r>
            <a:endParaRPr sz="930">
              <a:solidFill>
                <a:srgbClr val="5F5F5F"/>
              </a:solidFill>
              <a:latin typeface="Arial" panose="020B0604020202090204"/>
            </a:endParaRPr>
          </a:p>
        </p:txBody>
      </p:sp>
      <p:sp>
        <p:nvSpPr>
          <p:cNvPr id="34" name="Rounded Rectangle 33"/>
          <p:cNvSpPr/>
          <p:nvPr/>
        </p:nvSpPr>
        <p:spPr>
          <a:xfrm>
            <a:off x="9454896" y="1024128"/>
            <a:ext cx="1572768" cy="1115568"/>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tIns="64008" rtlCol="0" anchor="ctr"/>
          <a:lstStyle/>
          <a:p>
            <a:pPr algn="ctr"/>
            <a:r>
              <a:rPr sz="1200" b="1">
                <a:solidFill>
                  <a:srgbClr val="003D7C"/>
                </a:solidFill>
                <a:latin typeface="Arial" panose="020B0604020202090204"/>
              </a:rPr>
              <a:t>Hidden Gems</a:t>
            </a:r>
            <a:endParaRPr sz="1200" b="1">
              <a:solidFill>
                <a:srgbClr val="003D7C"/>
              </a:solidFill>
              <a:latin typeface="Arial" panose="020B0604020202090204"/>
            </a:endParaRPr>
          </a:p>
          <a:p>
            <a:r>
              <a:rPr sz="2100" b="1">
                <a:solidFill>
                  <a:srgbClr val="262626"/>
                </a:solidFill>
                <a:latin typeface="Arial" panose="020B0604020202090204"/>
              </a:rPr>
              <a:t>19.6%</a:t>
            </a:r>
            <a:endParaRPr sz="2100" b="1">
              <a:solidFill>
                <a:srgbClr val="262626"/>
              </a:solidFill>
              <a:latin typeface="Arial" panose="020B0604020202090204"/>
            </a:endParaRPr>
          </a:p>
          <a:p>
            <a:r>
              <a:rPr sz="930">
                <a:solidFill>
                  <a:srgbClr val="5F5F5F"/>
                </a:solidFill>
                <a:latin typeface="Arial" panose="020B0604020202090204"/>
              </a:rPr>
              <a:t>High Rating / Low Exposure</a:t>
            </a:r>
            <a:endParaRPr sz="930">
              <a:solidFill>
                <a:srgbClr val="5F5F5F"/>
              </a:solidFill>
              <a:latin typeface="Arial" panose="020B0604020202090204"/>
            </a:endParaRPr>
          </a:p>
        </p:txBody>
      </p:sp>
      <p:sp>
        <p:nvSpPr>
          <p:cNvPr id="35" name="Rounded Rectangle 34"/>
          <p:cNvSpPr/>
          <p:nvPr/>
        </p:nvSpPr>
        <p:spPr>
          <a:xfrm>
            <a:off x="7699248" y="2377440"/>
            <a:ext cx="1572768" cy="111556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tIns="64008" rtlCol="0" anchor="ctr"/>
          <a:lstStyle/>
          <a:p>
            <a:pPr algn="ctr"/>
            <a:r>
              <a:rPr sz="1200" b="1">
                <a:solidFill>
                  <a:srgbClr val="C8102E"/>
                </a:solidFill>
                <a:latin typeface="Arial" panose="020B0604020202090204"/>
              </a:rPr>
              <a:t>At-Risk Scale</a:t>
            </a:r>
            <a:endParaRPr sz="1200" b="1">
              <a:solidFill>
                <a:srgbClr val="C8102E"/>
              </a:solidFill>
              <a:latin typeface="Arial" panose="020B0604020202090204"/>
            </a:endParaRPr>
          </a:p>
          <a:p>
            <a:r>
              <a:rPr sz="2100" b="1">
                <a:solidFill>
                  <a:srgbClr val="262626"/>
                </a:solidFill>
                <a:latin typeface="Arial" panose="020B0604020202090204"/>
              </a:rPr>
              <a:t>27.6%</a:t>
            </a:r>
            <a:endParaRPr sz="2100" b="1">
              <a:solidFill>
                <a:srgbClr val="262626"/>
              </a:solidFill>
              <a:latin typeface="Arial" panose="020B0604020202090204"/>
            </a:endParaRPr>
          </a:p>
          <a:p>
            <a:r>
              <a:rPr sz="930">
                <a:solidFill>
                  <a:srgbClr val="5F5F5F"/>
                </a:solidFill>
                <a:latin typeface="Arial" panose="020B0604020202090204"/>
              </a:rPr>
              <a:t>Low Rating / High Exposure</a:t>
            </a:r>
            <a:endParaRPr sz="930">
              <a:solidFill>
                <a:srgbClr val="5F5F5F"/>
              </a:solidFill>
              <a:latin typeface="Arial" panose="020B0604020202090204"/>
            </a:endParaRPr>
          </a:p>
        </p:txBody>
      </p:sp>
      <p:sp>
        <p:nvSpPr>
          <p:cNvPr id="36" name="Rounded Rectangle 35"/>
          <p:cNvSpPr/>
          <p:nvPr/>
        </p:nvSpPr>
        <p:spPr>
          <a:xfrm>
            <a:off x="9454896" y="2377440"/>
            <a:ext cx="1572768" cy="1115568"/>
          </a:xfrm>
          <a:prstGeom prst="roundRect">
            <a:avLst/>
          </a:prstGeom>
          <a:solidFill>
            <a:srgbClr val="FDF7E7"/>
          </a:solidFill>
          <a:ln w="10160">
            <a:solidFill>
              <a:srgbClr val="AB7000"/>
            </a:solidFill>
          </a:ln>
        </p:spPr>
        <p:style>
          <a:lnRef idx="1">
            <a:schemeClr val="accent1"/>
          </a:lnRef>
          <a:fillRef idx="3">
            <a:schemeClr val="accent1"/>
          </a:fillRef>
          <a:effectRef idx="2">
            <a:schemeClr val="accent1"/>
          </a:effectRef>
          <a:fontRef idx="minor">
            <a:schemeClr val="lt1"/>
          </a:fontRef>
        </p:style>
        <p:txBody>
          <a:bodyPr tIns="64008" rtlCol="0" anchor="ctr"/>
          <a:lstStyle/>
          <a:p>
            <a:pPr algn="ctr"/>
            <a:r>
              <a:rPr sz="1200" b="1">
                <a:solidFill>
                  <a:srgbClr val="AB7000"/>
                </a:solidFill>
                <a:latin typeface="Arial" panose="020B0604020202090204"/>
              </a:rPr>
              <a:t>Weak Signals</a:t>
            </a:r>
            <a:endParaRPr sz="1200" b="1">
              <a:solidFill>
                <a:srgbClr val="AB7000"/>
              </a:solidFill>
              <a:latin typeface="Arial" panose="020B0604020202090204"/>
            </a:endParaRPr>
          </a:p>
          <a:p>
            <a:r>
              <a:rPr sz="2100" b="1">
                <a:solidFill>
                  <a:srgbClr val="262626"/>
                </a:solidFill>
                <a:latin typeface="Arial" panose="020B0604020202090204"/>
              </a:rPr>
              <a:t>19.5%</a:t>
            </a:r>
            <a:endParaRPr sz="2100" b="1">
              <a:solidFill>
                <a:srgbClr val="262626"/>
              </a:solidFill>
              <a:latin typeface="Arial" panose="020B0604020202090204"/>
            </a:endParaRPr>
          </a:p>
          <a:p>
            <a:r>
              <a:rPr sz="930">
                <a:solidFill>
                  <a:srgbClr val="5F5F5F"/>
                </a:solidFill>
                <a:latin typeface="Arial" panose="020B0604020202090204"/>
              </a:rPr>
              <a:t>Low Rating / Low Exposure</a:t>
            </a:r>
            <a:endParaRPr sz="930">
              <a:solidFill>
                <a:srgbClr val="5F5F5F"/>
              </a:solidFill>
              <a:latin typeface="Arial" panose="020B0604020202090204"/>
            </a:endParaRPr>
          </a:p>
        </p:txBody>
      </p:sp>
      <p:sp>
        <p:nvSpPr>
          <p:cNvPr id="37" name="Rounded Rectangle 36"/>
          <p:cNvSpPr/>
          <p:nvPr/>
        </p:nvSpPr>
        <p:spPr>
          <a:xfrm>
            <a:off x="7699248" y="3822191"/>
            <a:ext cx="3328416" cy="457200"/>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150" b="1">
                <a:solidFill>
                  <a:srgbClr val="262626"/>
                </a:solidFill>
                <a:latin typeface="Arial" panose="020B0604020202090204"/>
              </a:rPr>
              <a:t>Rating = satisfaction; Installs = market coverage. Use both to define “success”.</a:t>
            </a:r>
            <a:endParaRPr sz="1150" b="1">
              <a:solidFill>
                <a:srgbClr val="262626"/>
              </a:solidFill>
              <a:latin typeface="Arial" panose="020B0604020202090204"/>
            </a:endParaRPr>
          </a:p>
        </p:txBody>
      </p:sp>
      <p:sp>
        <p:nvSpPr>
          <p:cNvPr id="38" name="Rectangle 37"/>
          <p:cNvSpPr/>
          <p:nvPr/>
        </p:nvSpPr>
        <p:spPr>
          <a:xfrm>
            <a:off x="7699248" y="3822191"/>
            <a:ext cx="54864" cy="45720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93900" y="6234075"/>
            <a:ext cx="9194800" cy="533248"/>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YUTONG</a:t>
            </a:r>
            <a:endPar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800" b="1">
                <a:solidFill>
                  <a:srgbClr val="262626"/>
                </a:solidFill>
                <a:latin typeface="Arial" panose="020B0604020202090204"/>
              </a:rPr>
              <a:t>Categories also show a satisfaction-versus-adoption trade-off</a:t>
            </a:r>
            <a:endParaRPr sz="28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16</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sp>
        <p:nvSpPr>
          <p:cNvPr id="4" name="TextBox 3"/>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YUTONG</a:t>
            </a:r>
            <a:endPar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365760" y="914400"/>
            <a:ext cx="7360920" cy="3374136"/>
          </a:xfrm>
          <a:prstGeom prst="roundRect">
            <a:avLst/>
          </a:prstGeom>
          <a:solidFill>
            <a:srgbClr val="FFFFFF"/>
          </a:solidFill>
          <a:ln w="10160">
            <a:solidFill>
              <a:srgbClr val="DA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16_category_opportunity_bubble.png"/>
          <p:cNvPicPr>
            <a:picLocks noChangeAspect="1"/>
          </p:cNvPicPr>
          <p:nvPr/>
        </p:nvPicPr>
        <p:blipFill>
          <a:blip r:embed="rId2"/>
          <a:stretch>
            <a:fillRect/>
          </a:stretch>
        </p:blipFill>
        <p:spPr>
          <a:xfrm>
            <a:off x="1673263" y="950976"/>
            <a:ext cx="4745912" cy="3300984"/>
          </a:xfrm>
          <a:prstGeom prst="rect">
            <a:avLst/>
          </a:prstGeom>
        </p:spPr>
      </p:pic>
      <p:sp>
        <p:nvSpPr>
          <p:cNvPr id="33" name="TextBox 32"/>
          <p:cNvSpPr txBox="1"/>
          <p:nvPr/>
        </p:nvSpPr>
        <p:spPr>
          <a:xfrm>
            <a:off x="7973568" y="987552"/>
            <a:ext cx="2926080" cy="347472"/>
          </a:xfrm>
          <a:prstGeom prst="rect">
            <a:avLst/>
          </a:prstGeom>
          <a:noFill/>
        </p:spPr>
        <p:txBody>
          <a:bodyPr wrap="none" lIns="54864" tIns="54864" rIns="54864" bIns="54864" anchor="ctr">
            <a:spAutoFit/>
          </a:bodyPr>
          <a:lstStyle/>
          <a:p>
            <a:pPr algn="l"/>
            <a:r>
              <a:rPr sz="1400" b="1">
                <a:solidFill>
                  <a:srgbClr val="C8102E"/>
                </a:solidFill>
                <a:latin typeface="Arial" panose="020B0604020202090204"/>
              </a:rPr>
              <a:t>High adoption, lower satisfaction</a:t>
            </a:r>
            <a:endParaRPr sz="1400" b="1">
              <a:solidFill>
                <a:srgbClr val="C8102E"/>
              </a:solidFill>
              <a:latin typeface="Arial" panose="020B0604020202090204"/>
            </a:endParaRPr>
          </a:p>
        </p:txBody>
      </p:sp>
      <p:sp>
        <p:nvSpPr>
          <p:cNvPr id="34" name="TextBox 33"/>
          <p:cNvSpPr txBox="1"/>
          <p:nvPr/>
        </p:nvSpPr>
        <p:spPr>
          <a:xfrm>
            <a:off x="7973568" y="1389888"/>
            <a:ext cx="2926080" cy="1005840"/>
          </a:xfrm>
          <a:prstGeom prst="rect">
            <a:avLst/>
          </a:prstGeom>
          <a:noFill/>
        </p:spPr>
        <p:txBody>
          <a:bodyPr wrap="none" lIns="54864" tIns="54864" rIns="54864" bIns="54864" anchor="t">
            <a:spAutoFit/>
          </a:bodyPr>
          <a:lstStyle/>
          <a:p>
            <a:pPr algn="l"/>
            <a:r>
              <a:rPr sz="1400" b="0">
                <a:solidFill>
                  <a:srgbClr val="262626"/>
                </a:solidFill>
                <a:latin typeface="Arial" panose="020B0604020202090204"/>
              </a:rPr>
              <a:t>COMMUNICATION  ≈ 4.121
VIDEO_PLAYERS  ≈ 4.045
GAME  ≈ 4.245</a:t>
            </a:r>
            <a:endParaRPr sz="1400" b="0">
              <a:solidFill>
                <a:srgbClr val="262626"/>
              </a:solidFill>
              <a:latin typeface="Arial" panose="020B0604020202090204"/>
            </a:endParaRPr>
          </a:p>
        </p:txBody>
      </p:sp>
      <p:sp>
        <p:nvSpPr>
          <p:cNvPr id="35" name="TextBox 34"/>
          <p:cNvSpPr txBox="1"/>
          <p:nvPr/>
        </p:nvSpPr>
        <p:spPr>
          <a:xfrm>
            <a:off x="7973568" y="2633472"/>
            <a:ext cx="2926080" cy="347472"/>
          </a:xfrm>
          <a:prstGeom prst="rect">
            <a:avLst/>
          </a:prstGeom>
          <a:noFill/>
        </p:spPr>
        <p:txBody>
          <a:bodyPr wrap="none" lIns="54864" tIns="54864" rIns="54864" bIns="54864" anchor="ctr">
            <a:spAutoFit/>
          </a:bodyPr>
          <a:lstStyle/>
          <a:p>
            <a:pPr algn="l"/>
            <a:r>
              <a:rPr sz="1400" b="1">
                <a:solidFill>
                  <a:srgbClr val="24834B"/>
                </a:solidFill>
                <a:latin typeface="Arial" panose="020B0604020202090204"/>
              </a:rPr>
              <a:t>High satisfaction, lower adoption</a:t>
            </a:r>
            <a:endParaRPr sz="1400" b="1">
              <a:solidFill>
                <a:srgbClr val="24834B"/>
              </a:solidFill>
              <a:latin typeface="Arial" panose="020B0604020202090204"/>
            </a:endParaRPr>
          </a:p>
        </p:txBody>
      </p:sp>
      <p:sp>
        <p:nvSpPr>
          <p:cNvPr id="36" name="TextBox 35"/>
          <p:cNvSpPr txBox="1"/>
          <p:nvPr/>
        </p:nvSpPr>
        <p:spPr>
          <a:xfrm>
            <a:off x="7973568" y="3035808"/>
            <a:ext cx="2926080" cy="804672"/>
          </a:xfrm>
          <a:prstGeom prst="rect">
            <a:avLst/>
          </a:prstGeom>
          <a:noFill/>
        </p:spPr>
        <p:txBody>
          <a:bodyPr wrap="none" lIns="54864" tIns="54864" rIns="54864" bIns="54864" anchor="t">
            <a:spAutoFit/>
          </a:bodyPr>
          <a:lstStyle/>
          <a:p>
            <a:pPr algn="l"/>
            <a:r>
              <a:rPr sz="1400" b="0">
                <a:solidFill>
                  <a:srgbClr val="262626"/>
                </a:solidFill>
                <a:latin typeface="Arial" panose="020B0604020202090204"/>
              </a:rPr>
              <a:t>ART_AND_DESIGN  ≈ 4.359
EDUCATION  ≈ 4.355</a:t>
            </a:r>
            <a:endParaRPr sz="1400" b="0">
              <a:solidFill>
                <a:srgbClr val="262626"/>
              </a:solidFill>
              <a:latin typeface="Arial" panose="020B0604020202090204"/>
            </a:endParaRPr>
          </a:p>
        </p:txBody>
      </p:sp>
      <p:sp>
        <p:nvSpPr>
          <p:cNvPr id="37" name="Rounded Rectangle 36"/>
          <p:cNvSpPr/>
          <p:nvPr/>
        </p:nvSpPr>
        <p:spPr>
          <a:xfrm>
            <a:off x="7973568" y="3886200"/>
            <a:ext cx="2926080" cy="38404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150" b="1">
                <a:solidFill>
                  <a:srgbClr val="262626"/>
                </a:solidFill>
                <a:latin typeface="Arial" panose="020B0604020202090204"/>
              </a:rPr>
              <a:t>Large adoption ≠ high satisfaction.</a:t>
            </a:r>
            <a:endParaRPr sz="1150" b="1">
              <a:solidFill>
                <a:srgbClr val="262626"/>
              </a:solidFill>
              <a:latin typeface="Arial" panose="020B0604020202090204"/>
            </a:endParaRPr>
          </a:p>
        </p:txBody>
      </p:sp>
      <p:sp>
        <p:nvSpPr>
          <p:cNvPr id="38" name="Rectangle 37"/>
          <p:cNvSpPr/>
          <p:nvPr/>
        </p:nvSpPr>
        <p:spPr>
          <a:xfrm>
            <a:off x="7973568" y="3886200"/>
            <a:ext cx="54864" cy="38404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600" b="1">
                <a:solidFill>
                  <a:srgbClr val="262626"/>
                </a:solidFill>
                <a:latin typeface="Arial" panose="020B0604020202090204"/>
              </a:rPr>
              <a:t>Recommendation: App Health should not be judged by Rating alone</a:t>
            </a:r>
            <a:endParaRPr sz="26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17</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sp>
        <p:nvSpPr>
          <p:cNvPr id="4" name="TextBox 3"/>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YUTONG</a:t>
            </a:r>
            <a:endPar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endParaRPr>
          </a:p>
        </p:txBody>
      </p:sp>
      <p:grpSp>
        <p:nvGrpSpPr>
          <p:cNvPr id="3" name="Group 2"/>
          <p:cNvGrpSpPr/>
          <p:nvPr/>
        </p:nvGrpSpPr>
        <p:grpSpPr>
          <a:xfrm>
            <a:off x="2738295" y="4489704"/>
            <a:ext cx="6715406" cy="1249135"/>
            <a:chOff x="3164773" y="3475265"/>
            <a:chExt cx="8398662" cy="1249135"/>
          </a:xfrm>
        </p:grpSpPr>
        <p:sp>
          <p:nvSpPr>
            <p:cNvPr id="7" name="Rectangle 6"/>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Conclusion</a:t>
              </a:r>
              <a:endPar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grpSp>
          <p:nvGrpSpPr>
            <p:cNvPr id="9" name="Group 8"/>
            <p:cNvGrpSpPr/>
            <p:nvPr/>
          </p:nvGrpSpPr>
          <p:grpSpPr>
            <a:xfrm>
              <a:off x="3357416" y="3897010"/>
              <a:ext cx="8086462" cy="696837"/>
              <a:chOff x="707077" y="7992801"/>
              <a:chExt cx="10298377" cy="1128778"/>
            </a:xfrm>
          </p:grpSpPr>
          <p:sp>
            <p:nvSpPr>
              <p:cNvPr id="11" name="Rectangle 10"/>
              <p:cNvSpPr/>
              <p:nvPr/>
            </p:nvSpPr>
            <p:spPr>
              <a:xfrm>
                <a:off x="707077" y="7997142"/>
                <a:ext cx="1991421"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2" name="Rectangle 11"/>
              <p:cNvSpPr/>
              <p:nvPr/>
            </p:nvSpPr>
            <p:spPr>
              <a:xfrm>
                <a:off x="3456873"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4" name="Rectangle 13"/>
              <p:cNvSpPr/>
              <p:nvPr/>
            </p:nvSpPr>
            <p:spPr>
              <a:xfrm>
                <a:off x="6232732" y="7992801"/>
                <a:ext cx="1991422" cy="1103378"/>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15" name="Arrow: Right 14"/>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Arrow: Right 27"/>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0" name="Arrow: Right 29"/>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1" name="Rounded Rectangle 30"/>
          <p:cNvSpPr/>
          <p:nvPr/>
        </p:nvSpPr>
        <p:spPr>
          <a:xfrm>
            <a:off x="502920" y="914400"/>
            <a:ext cx="3383280" cy="987552"/>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2000" b="1">
                <a:solidFill>
                  <a:srgbClr val="24834B"/>
                </a:solidFill>
                <a:latin typeface="Arial" panose="020B0604020202090204"/>
              </a:rPr>
              <a:t>Rating</a:t>
            </a:r>
            <a:endParaRPr sz="2000" b="1">
              <a:solidFill>
                <a:srgbClr val="24834B"/>
              </a:solidFill>
              <a:latin typeface="Arial" panose="020B0604020202090204"/>
            </a:endParaRPr>
          </a:p>
          <a:p>
            <a:r>
              <a:rPr sz="1250" b="1">
                <a:solidFill>
                  <a:srgbClr val="262626"/>
                </a:solidFill>
                <a:latin typeface="Arial" panose="020B0604020202090204"/>
              </a:rPr>
              <a:t>Satisfaction</a:t>
            </a:r>
            <a:endParaRPr sz="1250" b="1">
              <a:solidFill>
                <a:srgbClr val="262626"/>
              </a:solidFill>
              <a:latin typeface="Arial" panose="020B0604020202090204"/>
            </a:endParaRPr>
          </a:p>
          <a:p>
            <a:r>
              <a:rPr sz="950">
                <a:solidFill>
                  <a:srgbClr val="5F5F5F"/>
                </a:solidFill>
                <a:latin typeface="Arial" panose="020B0604020202090204"/>
              </a:rPr>
              <a:t>What users feel after use</a:t>
            </a:r>
            <a:endParaRPr sz="950">
              <a:solidFill>
                <a:srgbClr val="5F5F5F"/>
              </a:solidFill>
              <a:latin typeface="Arial" panose="020B0604020202090204"/>
            </a:endParaRPr>
          </a:p>
        </p:txBody>
      </p:sp>
      <p:sp>
        <p:nvSpPr>
          <p:cNvPr id="32" name="Rounded Rectangle 31"/>
          <p:cNvSpPr/>
          <p:nvPr/>
        </p:nvSpPr>
        <p:spPr>
          <a:xfrm>
            <a:off x="4279392" y="914400"/>
            <a:ext cx="3383280" cy="987552"/>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2000" b="1">
                <a:solidFill>
                  <a:srgbClr val="003D7C"/>
                </a:solidFill>
                <a:latin typeface="Arial" panose="020B0604020202090204"/>
              </a:rPr>
              <a:t>Reviews</a:t>
            </a:r>
            <a:endParaRPr sz="2000" b="1">
              <a:solidFill>
                <a:srgbClr val="003D7C"/>
              </a:solidFill>
              <a:latin typeface="Arial" panose="020B0604020202090204"/>
            </a:endParaRPr>
          </a:p>
          <a:p>
            <a:r>
              <a:rPr sz="1250" b="1">
                <a:solidFill>
                  <a:srgbClr val="262626"/>
                </a:solidFill>
                <a:latin typeface="Arial" panose="020B0604020202090204"/>
              </a:rPr>
              <a:t>Evidence strength</a:t>
            </a:r>
            <a:endParaRPr sz="1250" b="1">
              <a:solidFill>
                <a:srgbClr val="262626"/>
              </a:solidFill>
              <a:latin typeface="Arial" panose="020B0604020202090204"/>
            </a:endParaRPr>
          </a:p>
          <a:p>
            <a:r>
              <a:rPr sz="950">
                <a:solidFill>
                  <a:srgbClr val="5F5F5F"/>
                </a:solidFill>
                <a:latin typeface="Arial" panose="020B0604020202090204"/>
              </a:rPr>
              <a:t>How much evidence supports the score</a:t>
            </a:r>
            <a:endParaRPr sz="950">
              <a:solidFill>
                <a:srgbClr val="5F5F5F"/>
              </a:solidFill>
              <a:latin typeface="Arial" panose="020B0604020202090204"/>
            </a:endParaRPr>
          </a:p>
        </p:txBody>
      </p:sp>
      <p:sp>
        <p:nvSpPr>
          <p:cNvPr id="33" name="Rounded Rectangle 32"/>
          <p:cNvSpPr/>
          <p:nvPr/>
        </p:nvSpPr>
        <p:spPr>
          <a:xfrm>
            <a:off x="8055864" y="914400"/>
            <a:ext cx="3383280" cy="987552"/>
          </a:xfrm>
          <a:prstGeom prst="roundRect">
            <a:avLst/>
          </a:prstGeom>
          <a:solidFill>
            <a:srgbClr val="FDF7E7"/>
          </a:solidFill>
          <a:ln w="10160">
            <a:solidFill>
              <a:srgbClr val="AB7000"/>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2000" b="1">
                <a:solidFill>
                  <a:srgbClr val="AB7000"/>
                </a:solidFill>
                <a:latin typeface="Arial" panose="020B0604020202090204"/>
              </a:rPr>
              <a:t>Installs</a:t>
            </a:r>
            <a:endParaRPr sz="2000" b="1">
              <a:solidFill>
                <a:srgbClr val="AB7000"/>
              </a:solidFill>
              <a:latin typeface="Arial" panose="020B0604020202090204"/>
            </a:endParaRPr>
          </a:p>
          <a:p>
            <a:r>
              <a:rPr sz="1250" b="1">
                <a:solidFill>
                  <a:srgbClr val="262626"/>
                </a:solidFill>
                <a:latin typeface="Arial" panose="020B0604020202090204"/>
              </a:rPr>
              <a:t>Market coverage</a:t>
            </a:r>
            <a:endParaRPr sz="1250" b="1">
              <a:solidFill>
                <a:srgbClr val="262626"/>
              </a:solidFill>
              <a:latin typeface="Arial" panose="020B0604020202090204"/>
            </a:endParaRPr>
          </a:p>
          <a:p>
            <a:r>
              <a:rPr sz="950">
                <a:solidFill>
                  <a:srgbClr val="5F5F5F"/>
                </a:solidFill>
                <a:latin typeface="Arial" panose="020B0604020202090204"/>
              </a:rPr>
              <a:t>How far the app has reached</a:t>
            </a:r>
            <a:endParaRPr sz="950">
              <a:solidFill>
                <a:srgbClr val="5F5F5F"/>
              </a:solidFill>
              <a:latin typeface="Arial" panose="020B0604020202090204"/>
            </a:endParaRPr>
          </a:p>
        </p:txBody>
      </p:sp>
      <p:sp>
        <p:nvSpPr>
          <p:cNvPr id="34" name="Rounded Rectangle 33"/>
          <p:cNvSpPr/>
          <p:nvPr/>
        </p:nvSpPr>
        <p:spPr>
          <a:xfrm>
            <a:off x="502920" y="2176272"/>
            <a:ext cx="3383280" cy="804672"/>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r>
              <a:rPr sz="1500" b="1">
                <a:solidFill>
                  <a:srgbClr val="262626"/>
                </a:solidFill>
                <a:latin typeface="Arial" panose="020B0604020202090204"/>
              </a:rPr>
              <a:t>Collect more evidence</a:t>
            </a:r>
            <a:endParaRPr sz="1500" b="1">
              <a:solidFill>
                <a:srgbClr val="262626"/>
              </a:solidFill>
              <a:latin typeface="Arial" panose="020B0604020202090204"/>
            </a:endParaRPr>
          </a:p>
          <a:p>
            <a:r>
              <a:rPr sz="1000">
                <a:solidFill>
                  <a:srgbClr val="5F5F5F"/>
                </a:solidFill>
                <a:latin typeface="Arial" panose="020B0604020202090204"/>
              </a:rPr>
              <a:t>High Rating + weak evidence</a:t>
            </a:r>
            <a:endParaRPr sz="1000">
              <a:solidFill>
                <a:srgbClr val="5F5F5F"/>
              </a:solidFill>
              <a:latin typeface="Arial" panose="020B0604020202090204"/>
            </a:endParaRPr>
          </a:p>
        </p:txBody>
      </p:sp>
      <p:sp>
        <p:nvSpPr>
          <p:cNvPr id="35" name="Rounded Rectangle 34"/>
          <p:cNvSpPr/>
          <p:nvPr/>
        </p:nvSpPr>
        <p:spPr>
          <a:xfrm>
            <a:off x="4279392" y="2176272"/>
            <a:ext cx="3383280" cy="804672"/>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r>
              <a:rPr sz="1500" b="1">
                <a:solidFill>
                  <a:srgbClr val="262626"/>
                </a:solidFill>
                <a:latin typeface="Arial" panose="020B0604020202090204"/>
              </a:rPr>
              <a:t>Maintain quality</a:t>
            </a:r>
            <a:endParaRPr sz="1500" b="1">
              <a:solidFill>
                <a:srgbClr val="262626"/>
              </a:solidFill>
              <a:latin typeface="Arial" panose="020B0604020202090204"/>
            </a:endParaRPr>
          </a:p>
          <a:p>
            <a:r>
              <a:rPr sz="1000">
                <a:solidFill>
                  <a:srgbClr val="5F5F5F"/>
                </a:solidFill>
                <a:latin typeface="Arial" panose="020B0604020202090204"/>
              </a:rPr>
              <a:t>High Rating + strong evidence</a:t>
            </a:r>
            <a:endParaRPr sz="1000">
              <a:solidFill>
                <a:srgbClr val="5F5F5F"/>
              </a:solidFill>
              <a:latin typeface="Arial" panose="020B0604020202090204"/>
            </a:endParaRPr>
          </a:p>
        </p:txBody>
      </p:sp>
      <p:sp>
        <p:nvSpPr>
          <p:cNvPr id="36" name="Rounded Rectangle 35"/>
          <p:cNvSpPr/>
          <p:nvPr/>
        </p:nvSpPr>
        <p:spPr>
          <a:xfrm>
            <a:off x="502920" y="3218688"/>
            <a:ext cx="3383280" cy="804672"/>
          </a:xfrm>
          <a:prstGeom prst="roundRect">
            <a:avLst/>
          </a:prstGeom>
          <a:solidFill>
            <a:srgbClr val="FDF7E7"/>
          </a:solidFill>
          <a:ln w="10160">
            <a:solidFill>
              <a:srgbClr val="AB7000"/>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r>
              <a:rPr sz="1500" b="1">
                <a:solidFill>
                  <a:srgbClr val="262626"/>
                </a:solidFill>
                <a:latin typeface="Arial" panose="020B0604020202090204"/>
              </a:rPr>
              <a:t>Reassess positioning</a:t>
            </a:r>
            <a:endParaRPr sz="1500" b="1">
              <a:solidFill>
                <a:srgbClr val="262626"/>
              </a:solidFill>
              <a:latin typeface="Arial" panose="020B0604020202090204"/>
            </a:endParaRPr>
          </a:p>
          <a:p>
            <a:r>
              <a:rPr sz="1000">
                <a:solidFill>
                  <a:srgbClr val="5F5F5F"/>
                </a:solidFill>
                <a:latin typeface="Arial" panose="020B0604020202090204"/>
              </a:rPr>
              <a:t>Low Rating + low evidence</a:t>
            </a:r>
            <a:endParaRPr sz="1000">
              <a:solidFill>
                <a:srgbClr val="5F5F5F"/>
              </a:solidFill>
              <a:latin typeface="Arial" panose="020B0604020202090204"/>
            </a:endParaRPr>
          </a:p>
        </p:txBody>
      </p:sp>
      <p:sp>
        <p:nvSpPr>
          <p:cNvPr id="37" name="Rounded Rectangle 36"/>
          <p:cNvSpPr/>
          <p:nvPr/>
        </p:nvSpPr>
        <p:spPr>
          <a:xfrm>
            <a:off x="4279392" y="3218688"/>
            <a:ext cx="3383280" cy="804672"/>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r>
              <a:rPr sz="1500" b="1">
                <a:solidFill>
                  <a:srgbClr val="262626"/>
                </a:solidFill>
                <a:latin typeface="Arial" panose="020B0604020202090204"/>
              </a:rPr>
              <a:t>Prioritise UX diagnosis</a:t>
            </a:r>
            <a:endParaRPr sz="1500" b="1">
              <a:solidFill>
                <a:srgbClr val="262626"/>
              </a:solidFill>
              <a:latin typeface="Arial" panose="020B0604020202090204"/>
            </a:endParaRPr>
          </a:p>
          <a:p>
            <a:r>
              <a:rPr sz="1000">
                <a:solidFill>
                  <a:srgbClr val="5F5F5F"/>
                </a:solidFill>
                <a:latin typeface="Arial" panose="020B0604020202090204"/>
              </a:rPr>
              <a:t>Low Rating + high exposure</a:t>
            </a:r>
            <a:endParaRPr sz="1000">
              <a:solidFill>
                <a:srgbClr val="5F5F5F"/>
              </a:solidFill>
              <a:latin typeface="Arial" panose="020B0604020202090204"/>
            </a:endParaRPr>
          </a:p>
        </p:txBody>
      </p:sp>
      <p:sp>
        <p:nvSpPr>
          <p:cNvPr id="38" name="Rounded Rectangle 37"/>
          <p:cNvSpPr/>
          <p:nvPr/>
        </p:nvSpPr>
        <p:spPr>
          <a:xfrm>
            <a:off x="7973568" y="2176272"/>
            <a:ext cx="3108960" cy="184708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300" b="1">
                <a:solidFill>
                  <a:srgbClr val="262626"/>
                </a:solidFill>
                <a:latin typeface="Arial" panose="020B0604020202090204"/>
              </a:rPr>
              <a:t>Why this framework? Low Reviews / Installs produce the largest errors, and they are also the strongest predictive signals.</a:t>
            </a:r>
            <a:endParaRPr sz="1300" b="1">
              <a:solidFill>
                <a:srgbClr val="262626"/>
              </a:solidFill>
              <a:latin typeface="Arial" panose="020B0604020202090204"/>
            </a:endParaRPr>
          </a:p>
        </p:txBody>
      </p:sp>
      <p:sp>
        <p:nvSpPr>
          <p:cNvPr id="39" name="Rectangle 38"/>
          <p:cNvSpPr/>
          <p:nvPr/>
        </p:nvSpPr>
        <p:spPr>
          <a:xfrm>
            <a:off x="7973568" y="2176272"/>
            <a:ext cx="54864" cy="184708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ntu_logo.png"/>
          <p:cNvPicPr>
            <a:picLocks noChangeAspect="1"/>
          </p:cNvPicPr>
          <p:nvPr/>
        </p:nvPicPr>
        <p:blipFill>
          <a:blip r:embed="rId1"/>
          <a:stretch>
            <a:fillRect/>
          </a:stretch>
        </p:blipFill>
        <p:spPr>
          <a:xfrm>
            <a:off x="0" y="0"/>
            <a:ext cx="12192000" cy="6858000"/>
          </a:xfrm>
          <a:prstGeom prst="rect">
            <a:avLst/>
          </a:prstGeom>
        </p:spPr>
      </p:pic>
      <p:sp>
        <p:nvSpPr>
          <p:cNvPr id="2" name="Title 1"/>
          <p:cNvSpPr>
            <a:spLocks noGrp="1"/>
          </p:cNvSpPr>
          <p:nvPr>
            <p:ph type="ctrTitle"/>
          </p:nvPr>
        </p:nvSpPr>
        <p:spPr>
          <a:xfrm>
            <a:off x="0" y="0"/>
            <a:ext cx="12192000" cy="688065"/>
          </a:xfrm>
        </p:spPr>
        <p:txBody>
          <a:bodyPr lIns="288000" anchor="ctr" anchorCtr="0">
            <a:noAutofit/>
          </a:bodyPr>
          <a:lstStyle/>
          <a:p>
            <a:pPr algn="l"/>
            <a:r>
              <a:rPr sz="2600" b="1">
                <a:solidFill>
                  <a:srgbClr val="262626"/>
                </a:solidFill>
                <a:latin typeface="Arial" panose="020B0604020202090204"/>
              </a:rPr>
              <a:t>Conclusion: a complete evidence chain is more useful than one model score</a:t>
            </a:r>
            <a:endParaRPr sz="2600" b="1">
              <a:solidFill>
                <a:srgbClr val="262626"/>
              </a:solidFill>
              <a:latin typeface="Arial" panose="020B0604020202090204"/>
            </a:endParaRPr>
          </a:p>
        </p:txBody>
      </p:sp>
      <p:sp>
        <p:nvSpPr>
          <p:cNvPr id="5" name="Slide Number Placeholder 4"/>
          <p:cNvSpPr>
            <a:spLocks noGrp="1"/>
          </p:cNvSpPr>
          <p:nvPr>
            <p:ph type="sldNum" sz="quarter" idx="12"/>
          </p:nvPr>
        </p:nvSpPr>
        <p:spPr>
          <a:xfrm>
            <a:off x="11561522" y="6356350"/>
            <a:ext cx="518786" cy="36248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sz="2000" dirty="0">
                <a:solidFill>
                  <a:srgbClr val="5F5F5F"/>
                </a:solidFill>
                <a:latin typeface="Arial" panose="020B0604020202090204"/>
              </a:rPr>
              <a:t>18</a:t>
            </a:r>
            <a:endParaRPr kumimoji="0" lang="en-SG" sz="2000" b="0" i="0" u="none" strike="noStrike" kern="1200" cap="none" spc="0" normalizeH="0" baseline="0" noProof="0" dirty="0">
              <a:ln>
                <a:noFill/>
              </a:ln>
              <a:solidFill>
                <a:prstClr val="black">
                  <a:tint val="75000"/>
                </a:prstClr>
              </a:solidFill>
              <a:effectLst/>
              <a:uLnTx/>
              <a:uFillTx/>
              <a:latin typeface="Arial Narrow" panose="020B0606020202030204" charset="0"/>
              <a:ea typeface="+mn-ea"/>
              <a:cs typeface="+mn-cs"/>
            </a:endParaRPr>
          </a:p>
        </p:txBody>
      </p:sp>
      <p:sp>
        <p:nvSpPr>
          <p:cNvPr id="4" name="TextBox 3"/>
          <p:cNvSpPr txBox="1"/>
          <p:nvPr/>
        </p:nvSpPr>
        <p:spPr>
          <a:xfrm>
            <a:off x="1993900" y="6234075"/>
            <a:ext cx="9194800" cy="53324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rPr>
              <a:t>Responsible member</a:t>
            </a:r>
            <a:r>
              <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等线" panose="02010600030101010101" pitchFamily="2" charset="-122"/>
                <a:cs typeface="Times New Roman" panose="02020503050405090304" pitchFamily="18" charset="0"/>
              </a:rPr>
              <a:t>: LIU YUTONG</a:t>
            </a:r>
            <a:endParaRPr kumimoji="0" lang="en-GB"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n-ea"/>
              <a:cs typeface="Times New Roman" panose="02020503050405090304" pitchFamily="18" charset="0"/>
            </a:endParaRPr>
          </a:p>
        </p:txBody>
      </p:sp>
      <p:grpSp>
        <p:nvGrpSpPr>
          <p:cNvPr id="17" name="Group 16"/>
          <p:cNvGrpSpPr/>
          <p:nvPr/>
        </p:nvGrpSpPr>
        <p:grpSpPr>
          <a:xfrm>
            <a:off x="2593916" y="4489704"/>
            <a:ext cx="6715406" cy="1249135"/>
            <a:chOff x="3164773" y="3475265"/>
            <a:chExt cx="8398662" cy="1249135"/>
          </a:xfrm>
        </p:grpSpPr>
        <p:sp>
          <p:nvSpPr>
            <p:cNvPr id="18" name="Rectangle 17"/>
            <p:cNvSpPr/>
            <p:nvPr/>
          </p:nvSpPr>
          <p:spPr>
            <a:xfrm>
              <a:off x="3164773" y="3475265"/>
              <a:ext cx="8398662" cy="1249135"/>
            </a:xfrm>
            <a:prstGeom prst="rect">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6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tab pos="5467350" algn="l"/>
                  <a:tab pos="6819900" algn="l"/>
                </a:tabLst>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 Introduction	</a:t>
              </a:r>
              <a:r>
                <a:rPr kumimoji="0" lang="en-SG" sz="1400" b="1" i="0" u="none" strike="noStrike" kern="1200" cap="none" spc="0" normalizeH="0" baseline="0" noProof="0" dirty="0">
                  <a:ln>
                    <a:noFill/>
                  </a:ln>
                  <a:solidFill>
                    <a:srgbClr val="C00000"/>
                  </a:solidFill>
                  <a:effectLst/>
                  <a:uLnTx/>
                  <a:uFillTx/>
                  <a:latin typeface="Arial" panose="020B0604020202090204" pitchFamily="34" charset="0"/>
                  <a:ea typeface="+mn-ea"/>
                  <a:cs typeface="Arial" panose="020B0604020202090204" pitchFamily="34" charset="0"/>
                </a:rPr>
                <a:t> Conclusion</a:t>
              </a:r>
              <a:endParaRPr kumimoji="0" lang="en-SG" sz="1400" b="1" i="0" u="none" strike="noStrike" kern="1200" cap="none" spc="0" normalizeH="0" baseline="0" noProof="0" dirty="0">
                <a:ln>
                  <a:noFill/>
                </a:ln>
                <a:solidFill>
                  <a:srgbClr val="C00000"/>
                </a:solidFill>
                <a:effectLst/>
                <a:uLnTx/>
                <a:uFillTx/>
                <a:latin typeface="Arial" panose="020B0604020202090204" pitchFamily="34" charset="0"/>
                <a:ea typeface="+mn-ea"/>
                <a:cs typeface="Arial" panose="020B0604020202090204" pitchFamily="34" charset="0"/>
              </a:endParaRPr>
            </a:p>
          </p:txBody>
        </p:sp>
        <p:grpSp>
          <p:nvGrpSpPr>
            <p:cNvPr id="19" name="Group 18"/>
            <p:cNvGrpSpPr/>
            <p:nvPr/>
          </p:nvGrpSpPr>
          <p:grpSpPr>
            <a:xfrm>
              <a:off x="3357416" y="3897010"/>
              <a:ext cx="8086462" cy="696837"/>
              <a:chOff x="707077" y="7992801"/>
              <a:chExt cx="10298377" cy="1128778"/>
            </a:xfrm>
          </p:grpSpPr>
          <p:sp>
            <p:nvSpPr>
              <p:cNvPr id="20" name="Rectangle 19"/>
              <p:cNvSpPr/>
              <p:nvPr/>
            </p:nvSpPr>
            <p:spPr>
              <a:xfrm>
                <a:off x="707077" y="7997142"/>
                <a:ext cx="1991421"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Exploration of Dataset</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21" name="Rectangle 20"/>
              <p:cNvSpPr/>
              <p:nvPr/>
            </p:nvSpPr>
            <p:spPr>
              <a:xfrm>
                <a:off x="3456873"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Design of AI Algorithm</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22" name="Rectangle 21"/>
              <p:cNvSpPr/>
              <p:nvPr/>
            </p:nvSpPr>
            <p:spPr>
              <a:xfrm>
                <a:off x="6232732" y="79928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Model Evaluation</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23" name="Arrow: Right 22"/>
              <p:cNvSpPr/>
              <p:nvPr/>
            </p:nvSpPr>
            <p:spPr>
              <a:xfrm>
                <a:off x="2770082" y="8254710"/>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Arrow: Right 23"/>
              <p:cNvSpPr/>
              <p:nvPr/>
            </p:nvSpPr>
            <p:spPr>
              <a:xfrm>
                <a:off x="5564605" y="82624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p:cNvSpPr/>
              <p:nvPr/>
            </p:nvSpPr>
            <p:spPr>
              <a:xfrm>
                <a:off x="9014032" y="8018201"/>
                <a:ext cx="1991422" cy="1103378"/>
              </a:xfrm>
              <a:prstGeom prst="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SG"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rPr>
                  <a:t>Visual Storytelling</a:t>
                </a:r>
                <a:endParaRPr kumimoji="0" lang="en-GB" sz="1400" b="1"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26" name="Arrow: Right 25"/>
              <p:cNvSpPr/>
              <p:nvPr/>
            </p:nvSpPr>
            <p:spPr>
              <a:xfrm>
                <a:off x="8358605" y="8287879"/>
                <a:ext cx="587334" cy="579559"/>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7" name="Rounded Rectangle 26"/>
          <p:cNvSpPr/>
          <p:nvPr/>
        </p:nvSpPr>
        <p:spPr>
          <a:xfrm>
            <a:off x="502920" y="914400"/>
            <a:ext cx="3383280" cy="1024128"/>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1400" b="1">
                <a:solidFill>
                  <a:srgbClr val="003D7C"/>
                </a:solidFill>
                <a:latin typeface="Arial" panose="020B0604020202090204"/>
              </a:rPr>
              <a:t>Data + model</a:t>
            </a:r>
            <a:endParaRPr sz="1400" b="1">
              <a:solidFill>
                <a:srgbClr val="003D7C"/>
              </a:solidFill>
              <a:latin typeface="Arial" panose="020B0604020202090204"/>
            </a:endParaRPr>
          </a:p>
          <a:p>
            <a:r>
              <a:rPr sz="1050">
                <a:solidFill>
                  <a:srgbClr val="262626"/>
                </a:solidFill>
                <a:latin typeface="Arial" panose="020B0604020202090204"/>
              </a:rPr>
              <a:t>10,841 raw → 8,892 modelling rows
RF holdout RMSE ≈ 0.495</a:t>
            </a:r>
            <a:endParaRPr sz="1050">
              <a:solidFill>
                <a:srgbClr val="262626"/>
              </a:solidFill>
              <a:latin typeface="Arial" panose="020B0604020202090204"/>
            </a:endParaRPr>
          </a:p>
        </p:txBody>
      </p:sp>
      <p:sp>
        <p:nvSpPr>
          <p:cNvPr id="28" name="Rounded Rectangle 27"/>
          <p:cNvSpPr/>
          <p:nvPr/>
        </p:nvSpPr>
        <p:spPr>
          <a:xfrm>
            <a:off x="4270248" y="914400"/>
            <a:ext cx="3383280" cy="1024128"/>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1400" b="1">
                <a:solidFill>
                  <a:srgbClr val="C8102E"/>
                </a:solidFill>
                <a:latin typeface="Arial" panose="020B0604020202090204"/>
              </a:rPr>
              <a:t>Main boundary</a:t>
            </a:r>
            <a:endParaRPr sz="1400" b="1">
              <a:solidFill>
                <a:srgbClr val="C8102E"/>
              </a:solidFill>
              <a:latin typeface="Arial" panose="020B0604020202090204"/>
            </a:endParaRPr>
          </a:p>
          <a:p>
            <a:r>
              <a:rPr sz="1050">
                <a:solidFill>
                  <a:srgbClr val="262626"/>
                </a:solidFill>
                <a:latin typeface="Arial" panose="020B0604020202090204"/>
              </a:rPr>
              <a:t>R² ≈ 0.156
Low-rating and low-evidence apps are hardest</a:t>
            </a:r>
            <a:endParaRPr sz="1050">
              <a:solidFill>
                <a:srgbClr val="262626"/>
              </a:solidFill>
              <a:latin typeface="Arial" panose="020B0604020202090204"/>
            </a:endParaRPr>
          </a:p>
        </p:txBody>
      </p:sp>
      <p:sp>
        <p:nvSpPr>
          <p:cNvPr id="29" name="Rounded Rectangle 28"/>
          <p:cNvSpPr/>
          <p:nvPr/>
        </p:nvSpPr>
        <p:spPr>
          <a:xfrm>
            <a:off x="8037576" y="914400"/>
            <a:ext cx="3383280" cy="1024128"/>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128016" tIns="73152" rtlCol="0" anchor="ctr"/>
          <a:lstStyle/>
          <a:p>
            <a:pPr algn="ctr"/>
            <a:r>
              <a:rPr sz="1400" b="1">
                <a:solidFill>
                  <a:srgbClr val="24834B"/>
                </a:solidFill>
                <a:latin typeface="Arial" panose="020B0604020202090204"/>
              </a:rPr>
              <a:t>Most useful outcome</a:t>
            </a:r>
            <a:endParaRPr sz="1400" b="1">
              <a:solidFill>
                <a:srgbClr val="24834B"/>
              </a:solidFill>
              <a:latin typeface="Arial" panose="020B0604020202090204"/>
            </a:endParaRPr>
          </a:p>
          <a:p>
            <a:r>
              <a:rPr sz="1050">
                <a:solidFill>
                  <a:srgbClr val="262626"/>
                </a:solidFill>
                <a:latin typeface="Arial" panose="020B0604020202090204"/>
              </a:rPr>
              <a:t>Interpret Rating with Reviews + Installs
for evidence-aware App Health</a:t>
            </a:r>
            <a:endParaRPr sz="1050">
              <a:solidFill>
                <a:srgbClr val="262626"/>
              </a:solidFill>
              <a:latin typeface="Arial" panose="020B0604020202090204"/>
            </a:endParaRPr>
          </a:p>
        </p:txBody>
      </p:sp>
      <p:sp>
        <p:nvSpPr>
          <p:cNvPr id="30" name="Rounded Rectangle 29"/>
          <p:cNvSpPr/>
          <p:nvPr/>
        </p:nvSpPr>
        <p:spPr>
          <a:xfrm>
            <a:off x="411480" y="2514600"/>
            <a:ext cx="1298448" cy="960120"/>
          </a:xfrm>
          <a:prstGeom prst="roundRect">
            <a:avLst/>
          </a:prstGeom>
          <a:solidFill>
            <a:srgbClr val="F6F7F9"/>
          </a:solidFill>
          <a:ln w="10160">
            <a:solidFill>
              <a:srgbClr val="5F5F5F"/>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5F5F5F"/>
                </a:solidFill>
                <a:latin typeface="Arial" panose="020B0604020202090204"/>
              </a:rPr>
              <a:t>Data Quality</a:t>
            </a:r>
            <a:endParaRPr sz="1050" b="1">
              <a:solidFill>
                <a:srgbClr val="5F5F5F"/>
              </a:solidFill>
              <a:latin typeface="Arial" panose="020B0604020202090204"/>
            </a:endParaRPr>
          </a:p>
          <a:p>
            <a:pPr algn="ctr"/>
            <a:r>
              <a:rPr sz="850">
                <a:solidFill>
                  <a:srgbClr val="262626"/>
                </a:solidFill>
                <a:latin typeface="Arial" panose="020B0604020202090204"/>
              </a:rPr>
              <a:t>10,841 raw</a:t>
            </a:r>
            <a:endParaRPr sz="850">
              <a:solidFill>
                <a:srgbClr val="262626"/>
              </a:solidFill>
              <a:latin typeface="Arial" panose="020B0604020202090204"/>
            </a:endParaRPr>
          </a:p>
        </p:txBody>
      </p:sp>
      <p:cxnSp>
        <p:nvCxnSpPr>
          <p:cNvPr id="31" name="Connector 30"/>
          <p:cNvCxnSpPr/>
          <p:nvPr/>
        </p:nvCxnSpPr>
        <p:spPr>
          <a:xfrm>
            <a:off x="1709928"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801368" y="2514600"/>
            <a:ext cx="1298448" cy="960120"/>
          </a:xfrm>
          <a:prstGeom prst="roundRect">
            <a:avLst/>
          </a:prstGeom>
          <a:solidFill>
            <a:srgbClr val="F6F7F9"/>
          </a:solidFill>
          <a:ln w="10160">
            <a:solidFill>
              <a:srgbClr val="5F5F5F"/>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5F5F5F"/>
                </a:solidFill>
                <a:latin typeface="Arial" panose="020B0604020202090204"/>
              </a:rPr>
              <a:t>EDA</a:t>
            </a:r>
            <a:endParaRPr sz="1050" b="1">
              <a:solidFill>
                <a:srgbClr val="5F5F5F"/>
              </a:solidFill>
              <a:latin typeface="Arial" panose="020B0604020202090204"/>
            </a:endParaRPr>
          </a:p>
          <a:p>
            <a:pPr algn="ctr"/>
            <a:r>
              <a:rPr sz="850">
                <a:solidFill>
                  <a:srgbClr val="262626"/>
                </a:solidFill>
                <a:latin typeface="Arial" panose="020B0604020202090204"/>
              </a:rPr>
              <a:t>Ratings cluster</a:t>
            </a:r>
            <a:endParaRPr sz="850">
              <a:solidFill>
                <a:srgbClr val="262626"/>
              </a:solidFill>
              <a:latin typeface="Arial" panose="020B0604020202090204"/>
            </a:endParaRPr>
          </a:p>
        </p:txBody>
      </p:sp>
      <p:cxnSp>
        <p:nvCxnSpPr>
          <p:cNvPr id="33" name="Connector 32"/>
          <p:cNvCxnSpPr/>
          <p:nvPr/>
        </p:nvCxnSpPr>
        <p:spPr>
          <a:xfrm>
            <a:off x="3099815" y="2990088"/>
            <a:ext cx="91441"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191256" y="2514600"/>
            <a:ext cx="1298448" cy="960120"/>
          </a:xfrm>
          <a:prstGeom prst="roundRect">
            <a:avLst/>
          </a:prstGeom>
          <a:solidFill>
            <a:srgbClr val="F6F7F9"/>
          </a:solidFill>
          <a:ln w="10160">
            <a:solidFill>
              <a:srgbClr val="5F5F5F"/>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5F5F5F"/>
                </a:solidFill>
                <a:latin typeface="Arial" panose="020B0604020202090204"/>
              </a:rPr>
              <a:t>Preprocess</a:t>
            </a:r>
            <a:endParaRPr sz="1050" b="1">
              <a:solidFill>
                <a:srgbClr val="5F5F5F"/>
              </a:solidFill>
              <a:latin typeface="Arial" panose="020B0604020202090204"/>
            </a:endParaRPr>
          </a:p>
          <a:p>
            <a:pPr algn="ctr"/>
            <a:r>
              <a:rPr sz="850">
                <a:solidFill>
                  <a:srgbClr val="262626"/>
                </a:solidFill>
                <a:latin typeface="Arial" panose="020B0604020202090204"/>
              </a:rPr>
              <a:t>Log tails</a:t>
            </a:r>
            <a:endParaRPr sz="850">
              <a:solidFill>
                <a:srgbClr val="262626"/>
              </a:solidFill>
              <a:latin typeface="Arial" panose="020B0604020202090204"/>
            </a:endParaRPr>
          </a:p>
        </p:txBody>
      </p:sp>
      <p:cxnSp>
        <p:nvCxnSpPr>
          <p:cNvPr id="35" name="Connector 34"/>
          <p:cNvCxnSpPr/>
          <p:nvPr/>
        </p:nvCxnSpPr>
        <p:spPr>
          <a:xfrm>
            <a:off x="4489704"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581144" y="2514600"/>
            <a:ext cx="1298448" cy="960120"/>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24834B"/>
                </a:solidFill>
                <a:latin typeface="Arial" panose="020B0604020202090204"/>
              </a:rPr>
              <a:t>Model</a:t>
            </a:r>
            <a:endParaRPr sz="1050" b="1">
              <a:solidFill>
                <a:srgbClr val="24834B"/>
              </a:solidFill>
              <a:latin typeface="Arial" panose="020B0604020202090204"/>
            </a:endParaRPr>
          </a:p>
          <a:p>
            <a:pPr algn="ctr"/>
            <a:r>
              <a:rPr sz="850">
                <a:solidFill>
                  <a:srgbClr val="262626"/>
                </a:solidFill>
                <a:latin typeface="Arial" panose="020B0604020202090204"/>
              </a:rPr>
              <a:t>RF selected</a:t>
            </a:r>
            <a:endParaRPr sz="850">
              <a:solidFill>
                <a:srgbClr val="262626"/>
              </a:solidFill>
              <a:latin typeface="Arial" panose="020B0604020202090204"/>
            </a:endParaRPr>
          </a:p>
        </p:txBody>
      </p:sp>
      <p:cxnSp>
        <p:nvCxnSpPr>
          <p:cNvPr id="37" name="Connector 36"/>
          <p:cNvCxnSpPr/>
          <p:nvPr/>
        </p:nvCxnSpPr>
        <p:spPr>
          <a:xfrm>
            <a:off x="5879592"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971032" y="2514600"/>
            <a:ext cx="1298448" cy="960120"/>
          </a:xfrm>
          <a:prstGeom prst="roundRect">
            <a:avLst/>
          </a:prstGeom>
          <a:solidFill>
            <a:srgbClr val="FDF1F4"/>
          </a:solidFill>
          <a:ln w="10160">
            <a:solidFill>
              <a:srgbClr val="C8102E"/>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C8102E"/>
                </a:solidFill>
                <a:latin typeface="Arial" panose="020B0604020202090204"/>
              </a:rPr>
              <a:t>Failure</a:t>
            </a:r>
            <a:endParaRPr sz="1050" b="1">
              <a:solidFill>
                <a:srgbClr val="C8102E"/>
              </a:solidFill>
              <a:latin typeface="Arial" panose="020B0604020202090204"/>
            </a:endParaRPr>
          </a:p>
          <a:p>
            <a:pPr algn="ctr"/>
            <a:r>
              <a:rPr sz="850">
                <a:solidFill>
                  <a:srgbClr val="262626"/>
                </a:solidFill>
                <a:latin typeface="Arial" panose="020B0604020202090204"/>
              </a:rPr>
              <a:t>Low ratings</a:t>
            </a:r>
            <a:endParaRPr sz="850">
              <a:solidFill>
                <a:srgbClr val="262626"/>
              </a:solidFill>
              <a:latin typeface="Arial" panose="020B0604020202090204"/>
            </a:endParaRPr>
          </a:p>
        </p:txBody>
      </p:sp>
      <p:cxnSp>
        <p:nvCxnSpPr>
          <p:cNvPr id="39" name="Connector 38"/>
          <p:cNvCxnSpPr/>
          <p:nvPr/>
        </p:nvCxnSpPr>
        <p:spPr>
          <a:xfrm>
            <a:off x="7269480"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360919" y="2514600"/>
            <a:ext cx="1298448" cy="960120"/>
          </a:xfrm>
          <a:prstGeom prst="roundRect">
            <a:avLst/>
          </a:prstGeom>
          <a:solidFill>
            <a:srgbClr val="EFF8F2"/>
          </a:solidFill>
          <a:ln w="10160">
            <a:solidFill>
              <a:srgbClr val="24834B"/>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24834B"/>
                </a:solidFill>
                <a:latin typeface="Arial" panose="020B0604020202090204"/>
              </a:rPr>
              <a:t>Explain</a:t>
            </a:r>
            <a:endParaRPr sz="1050" b="1">
              <a:solidFill>
                <a:srgbClr val="24834B"/>
              </a:solidFill>
              <a:latin typeface="Arial" panose="020B0604020202090204"/>
            </a:endParaRPr>
          </a:p>
          <a:p>
            <a:pPr algn="ctr"/>
            <a:r>
              <a:rPr sz="850">
                <a:solidFill>
                  <a:srgbClr val="262626"/>
                </a:solidFill>
                <a:latin typeface="Arial" panose="020B0604020202090204"/>
              </a:rPr>
              <a:t>Reviews / Installs</a:t>
            </a:r>
            <a:endParaRPr sz="850">
              <a:solidFill>
                <a:srgbClr val="262626"/>
              </a:solidFill>
              <a:latin typeface="Arial" panose="020B0604020202090204"/>
            </a:endParaRPr>
          </a:p>
        </p:txBody>
      </p:sp>
      <p:cxnSp>
        <p:nvCxnSpPr>
          <p:cNvPr id="41" name="Connector 40"/>
          <p:cNvCxnSpPr/>
          <p:nvPr/>
        </p:nvCxnSpPr>
        <p:spPr>
          <a:xfrm>
            <a:off x="8659367"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750808" y="2514600"/>
            <a:ext cx="1298448" cy="960120"/>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003D7C"/>
                </a:solidFill>
                <a:latin typeface="Arial" panose="020B0604020202090204"/>
              </a:rPr>
              <a:t>Story</a:t>
            </a:r>
            <a:endParaRPr sz="1050" b="1">
              <a:solidFill>
                <a:srgbClr val="003D7C"/>
              </a:solidFill>
              <a:latin typeface="Arial" panose="020B0604020202090204"/>
            </a:endParaRPr>
          </a:p>
          <a:p>
            <a:pPr algn="ctr"/>
            <a:r>
              <a:rPr sz="850">
                <a:solidFill>
                  <a:srgbClr val="262626"/>
                </a:solidFill>
                <a:latin typeface="Arial" panose="020B0604020202090204"/>
              </a:rPr>
              <a:t>4 states</a:t>
            </a:r>
            <a:endParaRPr sz="850">
              <a:solidFill>
                <a:srgbClr val="262626"/>
              </a:solidFill>
              <a:latin typeface="Arial" panose="020B0604020202090204"/>
            </a:endParaRPr>
          </a:p>
        </p:txBody>
      </p:sp>
      <p:cxnSp>
        <p:nvCxnSpPr>
          <p:cNvPr id="43" name="Connector 42"/>
          <p:cNvCxnSpPr/>
          <p:nvPr/>
        </p:nvCxnSpPr>
        <p:spPr>
          <a:xfrm>
            <a:off x="10049256" y="2990088"/>
            <a:ext cx="91440" cy="0"/>
          </a:xfrm>
          <a:prstGeom prst="line">
            <a:avLst/>
          </a:prstGeom>
          <a:ln w="12700">
            <a:solidFill>
              <a:srgbClr val="5F5F5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10140696" y="2514600"/>
            <a:ext cx="1298448" cy="960120"/>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003D7C"/>
                </a:solidFill>
                <a:latin typeface="Arial" panose="020B0604020202090204"/>
              </a:rPr>
              <a:t>Action</a:t>
            </a:r>
            <a:endParaRPr sz="1050" b="1">
              <a:solidFill>
                <a:srgbClr val="003D7C"/>
              </a:solidFill>
              <a:latin typeface="Arial" panose="020B0604020202090204"/>
            </a:endParaRPr>
          </a:p>
          <a:p>
            <a:pPr algn="ctr"/>
            <a:r>
              <a:rPr sz="850">
                <a:solidFill>
                  <a:srgbClr val="262626"/>
                </a:solidFill>
                <a:latin typeface="Arial" panose="020B0604020202090204"/>
              </a:rPr>
              <a:t>3-signal health</a:t>
            </a:r>
            <a:endParaRPr sz="850">
              <a:solidFill>
                <a:srgbClr val="262626"/>
              </a:solidFill>
              <a:latin typeface="Arial" panose="020B0604020202090204"/>
            </a:endParaRPr>
          </a:p>
        </p:txBody>
      </p:sp>
      <p:sp>
        <p:nvSpPr>
          <p:cNvPr id="45" name="Rounded Rectangle 44"/>
          <p:cNvSpPr/>
          <p:nvPr/>
        </p:nvSpPr>
        <p:spPr>
          <a:xfrm>
            <a:off x="1005840" y="3767328"/>
            <a:ext cx="10104120" cy="530352"/>
          </a:xfrm>
          <a:prstGeom prst="roundRect">
            <a:avLst/>
          </a:prstGeom>
          <a:solidFill>
            <a:srgbClr val="EFF5FC"/>
          </a:solidFill>
          <a:ln w="10160">
            <a:solidFill>
              <a:srgbClr val="003D7C"/>
            </a:solidFill>
          </a:ln>
        </p:spPr>
        <p:style>
          <a:lnRef idx="1">
            <a:schemeClr val="accent1"/>
          </a:lnRef>
          <a:fillRef idx="3">
            <a:schemeClr val="accent1"/>
          </a:fillRef>
          <a:effectRef idx="2">
            <a:schemeClr val="accent1"/>
          </a:effectRef>
          <a:fontRef idx="minor">
            <a:schemeClr val="lt1"/>
          </a:fontRef>
        </p:style>
        <p:txBody>
          <a:bodyPr lIns="128016" rtlCol="0" anchor="ctr"/>
          <a:lstStyle/>
          <a:p>
            <a:pPr algn="ctr"/>
            <a:r>
              <a:rPr sz="1300" b="1">
                <a:solidFill>
                  <a:srgbClr val="262626"/>
                </a:solidFill>
                <a:latin typeface="Arial" panose="020B0604020202090204"/>
              </a:rPr>
              <a:t>Key contribution: the project links data quality, model behaviour, failure modes and business interpretation into one evidence chain.</a:t>
            </a:r>
            <a:endParaRPr sz="1300" b="1">
              <a:solidFill>
                <a:srgbClr val="262626"/>
              </a:solidFill>
              <a:latin typeface="Arial" panose="020B0604020202090204"/>
            </a:endParaRPr>
          </a:p>
        </p:txBody>
      </p:sp>
      <p:sp>
        <p:nvSpPr>
          <p:cNvPr id="46" name="Rectangle 45"/>
          <p:cNvSpPr/>
          <p:nvPr/>
        </p:nvSpPr>
        <p:spPr>
          <a:xfrm>
            <a:off x="1005840" y="3767328"/>
            <a:ext cx="54864" cy="53035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ags/tag1.xml><?xml version="1.0" encoding="utf-8"?>
<p:tagLst xmlns:p="http://schemas.openxmlformats.org/presentationml/2006/main">
  <p:tag name="resource_record_key" val="{&quot;10&quot;:[50038741,50026096,21602011,50062542,50062589,21554990,50062620],&quot;13&quot;:[436492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8617</Words>
  <Application>WPS 表格</Application>
  <PresentationFormat/>
  <Paragraphs>530</Paragraphs>
  <Slides>19</Slides>
  <Notes>0</Notes>
  <HiddenSlides>0</HiddenSlides>
  <MMClips>0</MMClips>
  <ScaleCrop>false</ScaleCrop>
  <HeadingPairs>
    <vt:vector size="6" baseType="variant">
      <vt:variant>
        <vt:lpstr>已用的字体</vt:lpstr>
      </vt:variant>
      <vt:variant>
        <vt:i4>21</vt:i4>
      </vt:variant>
      <vt:variant>
        <vt:lpstr>主题</vt:lpstr>
      </vt:variant>
      <vt:variant>
        <vt:i4>12</vt:i4>
      </vt:variant>
      <vt:variant>
        <vt:lpstr>幻灯片标题</vt:lpstr>
      </vt:variant>
      <vt:variant>
        <vt:i4>19</vt:i4>
      </vt:variant>
    </vt:vector>
  </HeadingPairs>
  <TitlesOfParts>
    <vt:vector size="52" baseType="lpstr">
      <vt:lpstr>Arial</vt:lpstr>
      <vt:lpstr>宋体</vt:lpstr>
      <vt:lpstr>Wingdings</vt:lpstr>
      <vt:lpstr>Arial</vt:lpstr>
      <vt:lpstr>Arial Narrow</vt:lpstr>
      <vt:lpstr>Noto Sans SC</vt:lpstr>
      <vt:lpstr>Thonburi</vt:lpstr>
      <vt:lpstr>Times New Roman</vt:lpstr>
      <vt:lpstr>等线</vt:lpstr>
      <vt:lpstr>汉仪中等线KW</vt:lpstr>
      <vt:lpstr>Arial Narrow</vt:lpstr>
      <vt:lpstr>Calibri</vt:lpstr>
      <vt:lpstr>微软雅黑</vt:lpstr>
      <vt:lpstr>汉仪旗黑</vt:lpstr>
      <vt:lpstr>宋体</vt:lpstr>
      <vt:lpstr>Arial Unicode MS</vt:lpstr>
      <vt:lpstr>汉仪书宋二KW</vt:lpstr>
      <vt:lpstr>Helvetica Neue</vt:lpstr>
      <vt:lpstr>Noto Sans SC</vt:lpstr>
      <vt:lpstr>等线</vt:lpstr>
      <vt:lpstr>苹方-简</vt:lpstr>
      <vt:lpstr>Office 主题​​</vt:lpstr>
      <vt:lpstr>默认主题</vt:lpstr>
      <vt:lpstr>3_默认主题</vt:lpstr>
      <vt:lpstr>1_默认主题</vt:lpstr>
      <vt:lpstr>4_默认主题</vt:lpstr>
      <vt:lpstr>5_默认主题</vt:lpstr>
      <vt:lpstr>6_默认主题</vt:lpstr>
      <vt:lpstr>7_默认主题</vt:lpstr>
      <vt:lpstr>8_默认主题</vt:lpstr>
      <vt:lpstr>9_默认主题</vt:lpstr>
      <vt:lpstr>10_默认主题</vt:lpstr>
      <vt:lpstr>11_默认主题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Overall metrics improve, but predictions shrink toward the middle</vt:lpstr>
      <vt:lpstr>Average RMSE hides the real failure point: extreme ratings</vt:lpstr>
      <vt:lpstr>The model depends on Reviews / Installs—and is unreliable at low exposure</vt:lpstr>
      <vt:lpstr>As review evidence grows, “perfect” 5-star ratings almost disappear</vt:lpstr>
      <vt:lpstr>The same Rating can correspond to four different market states</vt:lpstr>
      <vt:lpstr>Categories also show a satisfaction-versus-adoption trade-off</vt:lpstr>
      <vt:lpstr>Recommendation: App Health should not be judged by Rating alone</vt:lpstr>
      <vt:lpstr>Conclusion: a complete evidence chain is more useful than one model score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jokerliu</cp:lastModifiedBy>
  <cp:revision>12</cp:revision>
  <dcterms:created xsi:type="dcterms:W3CDTF">2026-08-30T13:12:44Z</dcterms:created>
  <dcterms:modified xsi:type="dcterms:W3CDTF">2026-08-30T13:12:44Z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{"Label":"1","ContentProducer":"001191110102MACQD9K64010000","ProduceID":"7679284738162887920","ReservedCode1":"","ContentPropagator":"","PropagateID":"","ReservedCode2":""}</vt:lpwstr>
  </property>
  <property fmtid="{D5CDD505-2E9C-101B-9397-08002B2CF9AE}" pid="3" name="ICV">
    <vt:lpwstr>8B4B1BBF22F461C27F2A946A1E87E526_43</vt:lpwstr>
  </property>
  <property fmtid="{D5CDD505-2E9C-101B-9397-08002B2CF9AE}" pid="4" name="KSOProductBuildVer">
    <vt:lpwstr>2052-12.1.21861.21861</vt:lpwstr>
  </property>
</Properties>
</file>